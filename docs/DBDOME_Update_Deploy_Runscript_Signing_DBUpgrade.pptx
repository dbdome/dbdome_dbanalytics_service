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82296"/>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42816"/>
            <a:ext cx="12191695" cy="457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280160"/>
            <a:ext cx="3108960" cy="566928"/>
          </a:xfrm>
          <a:prstGeom prst="round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800" b="1" i="0">
                <a:solidFill>
                  <a:srgbClr val="0E2A47"/>
                </a:solidFill>
                <a:latin typeface="Segoe UI"/>
              </a:rPr>
              <a:t>DBDOME Update</a:t>
            </a:r>
          </a:p>
        </p:txBody>
      </p:sp>
      <p:sp>
        <p:nvSpPr>
          <p:cNvPr id="6" name="TextBox 5"/>
          <p:cNvSpPr txBox="1"/>
          <p:nvPr/>
        </p:nvSpPr>
        <p:spPr>
          <a:xfrm>
            <a:off x="777240" y="2194560"/>
            <a:ext cx="10789920" cy="1828800"/>
          </a:xfrm>
          <a:prstGeom prst="rect">
            <a:avLst/>
          </a:prstGeom>
          <a:noFill/>
        </p:spPr>
        <p:txBody>
          <a:bodyPr wrap="square" anchor="t" lIns="27432" rIns="27432" tIns="27432" bIns="27432">
            <a:spAutoFit/>
          </a:bodyPr>
          <a:lstStyle/>
          <a:p>
            <a:r>
              <a:rPr sz="3300" b="1" i="0">
                <a:solidFill>
                  <a:srgbClr val="FFFFFF"/>
                </a:solidFill>
                <a:latin typeface="Segoe UI"/>
              </a:rPr>
              <a:t>Deploy · Runscript · Signing · DB Upgrade</a:t>
            </a:r>
          </a:p>
          <a:p>
            <a:r>
              <a:rPr sz="2400" b="0" i="0">
                <a:solidFill>
                  <a:srgbClr val="E8EEF4"/>
                </a:solidFill>
                <a:latin typeface="Segoe UI"/>
              </a:rPr>
              <a:t>High-Level Architecture &amp; Process</a:t>
            </a:r>
          </a:p>
        </p:txBody>
      </p:sp>
      <p:sp>
        <p:nvSpPr>
          <p:cNvPr id="7" name="TextBox 6"/>
          <p:cNvSpPr txBox="1"/>
          <p:nvPr/>
        </p:nvSpPr>
        <p:spPr>
          <a:xfrm>
            <a:off x="777240" y="4434840"/>
            <a:ext cx="10789920" cy="1371600"/>
          </a:xfrm>
          <a:prstGeom prst="rect">
            <a:avLst/>
          </a:prstGeom>
          <a:noFill/>
        </p:spPr>
        <p:txBody>
          <a:bodyPr wrap="square" anchor="t" lIns="27432" rIns="27432" tIns="27432" bIns="27432">
            <a:spAutoFit/>
          </a:bodyPr>
          <a:lstStyle/>
          <a:p>
            <a:r>
              <a:rPr sz="1300" b="1" i="0">
                <a:solidFill>
                  <a:srgbClr val="1FB6B6"/>
                </a:solidFill>
                <a:latin typeface="Segoe UI"/>
              </a:rPr>
              <a:t>dbdome_update.exe — incremental updater (v2.0.0) for an existing DBDOME install; media auto-detected</a:t>
            </a:r>
          </a:p>
          <a:p>
            <a:r>
              <a:rPr sz="1300" b="0" i="0">
                <a:solidFill>
                  <a:srgbClr val="E8EEF4"/>
                </a:solidFill>
                <a:latin typeface="Segoe UI"/>
              </a:rPr>
              <a:t>Refreshes signed binaries + Grafana, then upgrades the database via enumerated, checksum-tracked SQL scripts</a:t>
            </a:r>
          </a:p>
          <a:p>
            <a:r>
              <a:rPr sz="1300" b="0" i="0">
                <a:solidFill>
                  <a:srgbClr val="E8EEF4"/>
                </a:solidFill>
                <a:latin typeface="Segoe UI"/>
              </a:rPr>
              <a:t>Preserves PostgreSQL, collected data and bin\.env — no PG/Oracle reinstall</a:t>
            </a:r>
          </a:p>
        </p:txBody>
      </p:sp>
      <p:sp>
        <p:nvSpPr>
          <p:cNvPr id="8" name="TextBox 7"/>
          <p:cNvSpPr txBox="1"/>
          <p:nvPr/>
        </p:nvSpPr>
        <p:spPr>
          <a:xfrm>
            <a:off x="777240" y="6126480"/>
            <a:ext cx="10789920" cy="457200"/>
          </a:xfrm>
          <a:prstGeom prst="rect">
            <a:avLst/>
          </a:prstGeom>
          <a:noFill/>
        </p:spPr>
        <p:txBody>
          <a:bodyPr wrap="square" anchor="t" lIns="27432" rIns="27432" tIns="27432" bIns="27432">
            <a:spAutoFit/>
          </a:bodyPr>
          <a:lstStyle/>
          <a:p>
            <a:r>
              <a:rPr sz="1100" b="0" i="0">
                <a:solidFill>
                  <a:srgbClr val="536474"/>
                </a:solidFill>
                <a:latin typeface="Segoe UI"/>
              </a:rPr>
              <a:t>by dbexpert.ai   ·   sources: dbdome_update/update.py · sql_script_runner.py · sign_dbdome.ps1 · deploy_all_three.ps1 · postgres\install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OVERVIEW
</a:t>
            </a:r>
            <a:r>
              <a:rPr sz="2400" b="1" i="0">
                <a:solidFill>
                  <a:srgbClr val="FFFFFF"/>
                </a:solidFill>
                <a:latin typeface="Segoe UI"/>
              </a:rPr>
              <a:t>Incremental updater — what it changes vs preserves</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2</a:t>
            </a:r>
          </a:p>
        </p:txBody>
      </p:sp>
      <p:sp>
        <p:nvSpPr>
          <p:cNvPr id="8" name="TextBox 7"/>
          <p:cNvSpPr txBox="1"/>
          <p:nvPr/>
        </p:nvSpPr>
        <p:spPr>
          <a:xfrm>
            <a:off x="548640" y="1280160"/>
            <a:ext cx="11064240" cy="493776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dbdome_update.exe (v2.0.0)</a:t>
            </a:r>
            <a:r>
              <a:rPr sz="1300" b="0" i="0">
                <a:solidFill>
                  <a:srgbClr val="1B2A38"/>
                </a:solidFill>
                <a:latin typeface="Segoe UI"/>
              </a:rPr>
              <a:t>  updates an EXISTING install from a local/removable package; auto-detects the media (scans mounted drives for &lt;drive&gt;:\dbdome, prefers removable, skips C:); override with --source. Run as Administrator.</a:t>
            </a:r>
          </a:p>
          <a:p>
            <a:pPr>
              <a:spcBef>
                <a:spcPts val="600"/>
              </a:spcBef>
            </a:pPr>
            <a:r>
              <a:rPr sz="1200" b="1" i="0">
                <a:solidFill>
                  <a:srgbClr val="1FB6B6"/>
                </a:solidFill>
                <a:latin typeface="Segoe UI"/>
              </a:rPr>
              <a:t>▪  </a:t>
            </a:r>
            <a:r>
              <a:rPr sz="1350" b="1" i="0">
                <a:solidFill>
                  <a:srgbClr val="1B2A38"/>
                </a:solidFill>
                <a:latin typeface="Segoe UI"/>
              </a:rPr>
              <a:t>Changes</a:t>
            </a:r>
            <a:r>
              <a:rPr sz="1300" b="0" i="0">
                <a:solidFill>
                  <a:srgbClr val="1B2A38"/>
                </a:solidFill>
                <a:latin typeface="Segoe UI"/>
              </a:rPr>
              <a:t>  appliance binaries (dbdome_service.exe + bin\ + _internal), reinstalls the Windows services, refreshes Grafana (grafana.db), and applies pending DB migrations.</a:t>
            </a:r>
          </a:p>
          <a:p>
            <a:pPr>
              <a:spcBef>
                <a:spcPts val="600"/>
              </a:spcBef>
            </a:pPr>
            <a:r>
              <a:rPr sz="1200" b="1" i="0">
                <a:solidFill>
                  <a:srgbClr val="1FB6B6"/>
                </a:solidFill>
                <a:latin typeface="Segoe UI"/>
              </a:rPr>
              <a:t>▪  </a:t>
            </a:r>
            <a:r>
              <a:rPr sz="1350" b="1" i="0">
                <a:solidFill>
                  <a:srgbClr val="1B2A38"/>
                </a:solidFill>
                <a:latin typeface="Segoe UI"/>
              </a:rPr>
              <a:t>Preserves</a:t>
            </a:r>
            <a:r>
              <a:rPr sz="1300" b="0" i="0">
                <a:solidFill>
                  <a:srgbClr val="1B2A38"/>
                </a:solidFill>
                <a:latin typeface="Segoe UI"/>
              </a:rPr>
              <a:t>  the PostgreSQL install &amp; data, all collected metrics/alerts/incidents, and bin\.env (real keys) — untouched.</a:t>
            </a:r>
          </a:p>
          <a:p>
            <a:pPr>
              <a:spcBef>
                <a:spcPts val="600"/>
              </a:spcBef>
            </a:pPr>
            <a:r>
              <a:rPr sz="1200" b="1" i="0">
                <a:solidFill>
                  <a:srgbClr val="1FB6B6"/>
                </a:solidFill>
                <a:latin typeface="Segoe UI"/>
              </a:rPr>
              <a:t>▪  </a:t>
            </a:r>
            <a:r>
              <a:rPr sz="1350" b="1" i="0">
                <a:solidFill>
                  <a:srgbClr val="1B2A38"/>
                </a:solidFill>
                <a:latin typeface="Segoe UI"/>
              </a:rPr>
              <a:t>Not a re-install</a:t>
            </a:r>
            <a:r>
              <a:rPr sz="1300" b="0" i="0">
                <a:solidFill>
                  <a:srgbClr val="1B2A38"/>
                </a:solidFill>
                <a:latin typeface="Segoe UI"/>
              </a:rPr>
              <a:t>  no PostgreSQL / ODBC / Oracle-client install (setup-only). The DB backup + ODBC msi are carried ONLY as a fresh-DB fallback (base_install runs only if the catalog is empty).</a:t>
            </a:r>
          </a:p>
          <a:p>
            <a:pPr>
              <a:spcBef>
                <a:spcPts val="600"/>
              </a:spcBef>
            </a:pPr>
            <a:r>
              <a:rPr sz="1200" b="1" i="0">
                <a:solidFill>
                  <a:srgbClr val="1FB6B6"/>
                </a:solidFill>
                <a:latin typeface="Segoe UI"/>
              </a:rPr>
              <a:t>▪  </a:t>
            </a:r>
            <a:r>
              <a:rPr sz="1350" b="1" i="0">
                <a:solidFill>
                  <a:srgbClr val="1B2A38"/>
                </a:solidFill>
                <a:latin typeface="Segoe UI"/>
              </a:rPr>
              <a:t>Signed &amp; trusted</a:t>
            </a:r>
            <a:r>
              <a:rPr sz="1300" b="0" i="0">
                <a:solidFill>
                  <a:srgbClr val="1B2A38"/>
                </a:solidFill>
                <a:latin typeface="Segoe UI"/>
              </a:rPr>
              <a:t>  binaries are Authenticode-signed; the updater re-imports the public dbdome_cert.cer into the machine trust store.</a:t>
            </a:r>
          </a:p>
          <a:p>
            <a:pPr>
              <a:spcBef>
                <a:spcPts val="600"/>
              </a:spcBef>
            </a:pPr>
            <a:r>
              <a:rPr sz="1200" b="1" i="0">
                <a:solidFill>
                  <a:srgbClr val="1FB6B6"/>
                </a:solidFill>
                <a:latin typeface="Segoe UI"/>
              </a:rPr>
              <a:t>▪  </a:t>
            </a:r>
            <a:r>
              <a:rPr sz="1350" b="1" i="0">
                <a:solidFill>
                  <a:srgbClr val="1B2A38"/>
                </a:solidFill>
                <a:latin typeface="Segoe UI"/>
              </a:rPr>
              <a:t>DB upgrade = enumerated SQL + ledger</a:t>
            </a:r>
            <a:r>
              <a:rPr sz="1300" b="0" i="0">
                <a:solidFill>
                  <a:srgbClr val="1B2A38"/>
                </a:solidFill>
                <a:latin typeface="Segoe UI"/>
              </a:rPr>
              <a:t>  the database is upgraded by applying the ordered postgres\install\NNNN_*.sql set; a checksum ledger (meta.schema_migrations) applies only what is new or changed — idempotent.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C:\INSTALLS\DBDOME_UPDATE
</a:t>
            </a:r>
            <a:r>
              <a:rPr sz="2400" b="1" i="0">
                <a:solidFill>
                  <a:srgbClr val="FFFFFF"/>
                </a:solidFill>
                <a:latin typeface="Segoe UI"/>
              </a:rPr>
              <a:t>Update package composition</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3</a:t>
            </a:r>
          </a:p>
        </p:txBody>
      </p:sp>
      <p:sp>
        <p:nvSpPr>
          <p:cNvPr id="8" name="Rounded Rectangle 7"/>
          <p:cNvSpPr/>
          <p:nvPr/>
        </p:nvSpPr>
        <p:spPr>
          <a:xfrm>
            <a:off x="457200" y="1325880"/>
            <a:ext cx="2743200" cy="502920"/>
          </a:xfrm>
          <a:prstGeom prst="round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300" b="1" i="0">
                <a:solidFill>
                  <a:srgbClr val="0E2A47"/>
                </a:solidFill>
                <a:latin typeface="Segoe UI"/>
              </a:rPr>
              <a:t>dbdome_update.exe</a:t>
            </a:r>
          </a:p>
          <a:p>
            <a:pPr algn="ctr"/>
            <a:r>
              <a:rPr sz="1050" b="0" i="0">
                <a:solidFill>
                  <a:srgbClr val="0E2A47"/>
                </a:solidFill>
                <a:latin typeface="Segoe UI"/>
              </a:rPr>
              <a:t>updater (update.py)</a:t>
            </a:r>
          </a:p>
        </p:txBody>
      </p:sp>
      <p:sp>
        <p:nvSpPr>
          <p:cNvPr id="9" name="Rounded Rectangle 8"/>
          <p:cNvSpPr/>
          <p:nvPr/>
        </p:nvSpPr>
        <p:spPr>
          <a:xfrm>
            <a:off x="457200" y="2011680"/>
            <a:ext cx="2743200" cy="301752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200" b="1" i="0">
                <a:solidFill>
                  <a:srgbClr val="FFFFFF"/>
                </a:solidFill>
                <a:latin typeface="Segoe UI"/>
              </a:rPr>
              <a:t>dbdome\  payload</a:t>
            </a:r>
          </a:p>
          <a:p>
            <a:pPr algn="ctr"/>
            <a:r>
              <a:rPr sz="950" b="0" i="0">
                <a:solidFill>
                  <a:srgbClr val="FFFFFF"/>
                </a:solidFill>
                <a:latin typeface="Segoe UI"/>
              </a:rPr>
              <a:t>applied onto the
existing install</a:t>
            </a:r>
          </a:p>
        </p:txBody>
      </p:sp>
      <p:sp>
        <p:nvSpPr>
          <p:cNvPr id="10" name="Rounded Rectangle 9"/>
          <p:cNvSpPr/>
          <p:nvPr/>
        </p:nvSpPr>
        <p:spPr>
          <a:xfrm>
            <a:off x="3566160" y="1325880"/>
            <a:ext cx="8229600" cy="822960"/>
          </a:xfrm>
          <a:prstGeom prst="round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Segoe UI"/>
              </a:rPr>
              <a:t>bin\</a:t>
            </a:r>
          </a:p>
          <a:p>
            <a:r>
              <a:rPr sz="1050" b="0" i="0">
                <a:solidFill>
                  <a:srgbClr val="E8EEF4"/>
                </a:solidFill>
                <a:latin typeface="Segoe UI"/>
              </a:rPr>
              <a:t>dbdome_dbanalytics.exe · dbdome_service.exe · _internal · certification\dbdome_cert.cer · nssm.exe</a:t>
            </a:r>
          </a:p>
        </p:txBody>
      </p:sp>
      <p:sp>
        <p:nvSpPr>
          <p:cNvPr id="11" name="Rounded Rectangle 10"/>
          <p:cNvSpPr/>
          <p:nvPr/>
        </p:nvSpPr>
        <p:spPr>
          <a:xfrm>
            <a:off x="3566160" y="2258568"/>
            <a:ext cx="8229600" cy="822960"/>
          </a:xfrm>
          <a:prstGeom prst="round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Segoe UI"/>
              </a:rPr>
              <a:t>conf\ + data\grafana.db</a:t>
            </a:r>
          </a:p>
          <a:p>
            <a:r>
              <a:rPr sz="1050" b="0" i="0">
                <a:solidFill>
                  <a:srgbClr val="E8EEF4"/>
                </a:solidFill>
                <a:latin typeface="Segoe UI"/>
              </a:rPr>
              <a:t>Grafana refresh (dashboards/config) — dbdomeg served via NSSM</a:t>
            </a:r>
          </a:p>
        </p:txBody>
      </p:sp>
      <p:sp>
        <p:nvSpPr>
          <p:cNvPr id="12" name="Rounded Rectangle 11"/>
          <p:cNvSpPr/>
          <p:nvPr/>
        </p:nvSpPr>
        <p:spPr>
          <a:xfrm>
            <a:off x="3566160" y="3191256"/>
            <a:ext cx="8229600" cy="822960"/>
          </a:xfrm>
          <a:prstGeom prst="round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Segoe UI"/>
              </a:rPr>
              <a:t>postgres\install\</a:t>
            </a:r>
          </a:p>
          <a:p>
            <a:r>
              <a:rPr sz="1050" b="0" i="0">
                <a:solidFill>
                  <a:srgbClr val="E8EEF4"/>
                </a:solidFill>
                <a:latin typeface="Segoe UI"/>
              </a:rPr>
              <a:t>base_install\  +  302 enumerated migrations 0001–7350  (the DB upgrade set)</a:t>
            </a:r>
          </a:p>
        </p:txBody>
      </p:sp>
      <p:sp>
        <p:nvSpPr>
          <p:cNvPr id="13" name="Rounded Rectangle 12"/>
          <p:cNvSpPr/>
          <p:nvPr/>
        </p:nvSpPr>
        <p:spPr>
          <a:xfrm>
            <a:off x="3566160" y="4123944"/>
            <a:ext cx="8229600" cy="822960"/>
          </a:xfrm>
          <a:prstGeom prst="round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i="0">
                <a:solidFill>
                  <a:srgbClr val="FFFFFF"/>
                </a:solidFill>
                <a:latin typeface="Segoe UI"/>
              </a:rPr>
              <a:t>fresh-DB fallback only</a:t>
            </a:r>
          </a:p>
          <a:p>
            <a:r>
              <a:rPr sz="1050" b="0" i="0">
                <a:solidFill>
                  <a:srgbClr val="E8EEF4"/>
                </a:solidFill>
                <a:latin typeface="Segoe UI"/>
              </a:rPr>
              <a:t>dbanalytics_install.backup · msodbcsql.msi   (NO PostgreSQL-18 / Oracle client — setup-only)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9 STEPS, RUN AS ADMINISTRATOR
</a:t>
            </a:r>
            <a:r>
              <a:rPr sz="2400" b="1" i="0">
                <a:solidFill>
                  <a:srgbClr val="FFFFFF"/>
                </a:solidFill>
                <a:latin typeface="Segoe UI"/>
              </a:rPr>
              <a:t>Update flow — dbdome_update.exe</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4</a:t>
            </a:r>
          </a:p>
        </p:txBody>
      </p:sp>
      <p:sp>
        <p:nvSpPr>
          <p:cNvPr id="8" name="Rounded Rectangle 7"/>
          <p:cNvSpPr/>
          <p:nvPr/>
        </p:nvSpPr>
        <p:spPr>
          <a:xfrm>
            <a:off x="411480" y="1417320"/>
            <a:ext cx="2697480" cy="868680"/>
          </a:xfrm>
          <a:prstGeom prst="roundRect">
            <a:avLst/>
          </a:prstGeom>
          <a:solidFill>
            <a:srgbClr val="143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1 Preflight
(dbdome+PG, admin)</a:t>
            </a:r>
          </a:p>
        </p:txBody>
      </p:sp>
      <p:sp>
        <p:nvSpPr>
          <p:cNvPr id="9" name="Rounded Rectangle 8"/>
          <p:cNvSpPr/>
          <p:nvPr/>
        </p:nvSpPr>
        <p:spPr>
          <a:xfrm>
            <a:off x="3291840" y="1417320"/>
            <a:ext cx="2697480" cy="868680"/>
          </a:xfrm>
          <a:prstGeom prst="roundRect">
            <a:avLst/>
          </a:prstGeom>
          <a:solidFill>
            <a:srgbClr val="143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2 Stop services
scheduler + web</a:t>
            </a:r>
          </a:p>
        </p:txBody>
      </p:sp>
      <p:sp>
        <p:nvSpPr>
          <p:cNvPr id="10" name="Rounded Rectangle 9"/>
          <p:cNvSpPr/>
          <p:nvPr/>
        </p:nvSpPr>
        <p:spPr>
          <a:xfrm>
            <a:off x="6172200" y="1417320"/>
            <a:ext cx="2697480" cy="868680"/>
          </a:xfrm>
          <a:prstGeom prst="round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0E2A47"/>
                </a:solidFill>
                <a:latin typeface="Segoe UI"/>
              </a:rPr>
              <a:t>3 Swap bin + exe,
reinstall services</a:t>
            </a:r>
          </a:p>
        </p:txBody>
      </p:sp>
      <p:sp>
        <p:nvSpPr>
          <p:cNvPr id="11" name="Rounded Rectangle 10"/>
          <p:cNvSpPr/>
          <p:nvPr/>
        </p:nvSpPr>
        <p:spPr>
          <a:xfrm>
            <a:off x="9052560" y="1417320"/>
            <a:ext cx="2697480" cy="868680"/>
          </a:xfrm>
          <a:prstGeom prst="round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0E2A47"/>
                </a:solidFill>
                <a:latin typeface="Segoe UI"/>
              </a:rPr>
              <a:t>4 Restart
services</a:t>
            </a:r>
          </a:p>
        </p:txBody>
      </p:sp>
      <p:sp>
        <p:nvSpPr>
          <p:cNvPr id="12" name="Rounded Rectangle 11"/>
          <p:cNvSpPr/>
          <p:nvPr/>
        </p:nvSpPr>
        <p:spPr>
          <a:xfrm>
            <a:off x="9052560" y="2743200"/>
            <a:ext cx="2697480" cy="868680"/>
          </a:xfrm>
          <a:prstGeom prst="round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5 Stop Grafana
(dbdomeg-server)</a:t>
            </a:r>
          </a:p>
        </p:txBody>
      </p:sp>
      <p:sp>
        <p:nvSpPr>
          <p:cNvPr id="13" name="Rounded Rectangle 12"/>
          <p:cNvSpPr/>
          <p:nvPr/>
        </p:nvSpPr>
        <p:spPr>
          <a:xfrm>
            <a:off x="6172200" y="2743200"/>
            <a:ext cx="2697480" cy="868680"/>
          </a:xfrm>
          <a:prstGeom prst="round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6 Replace
grafana.db</a:t>
            </a:r>
          </a:p>
        </p:txBody>
      </p:sp>
      <p:sp>
        <p:nvSpPr>
          <p:cNvPr id="14" name="Rounded Rectangle 13"/>
          <p:cNvSpPr/>
          <p:nvPr/>
        </p:nvSpPr>
        <p:spPr>
          <a:xfrm>
            <a:off x="3291840" y="2743200"/>
            <a:ext cx="2697480" cy="868680"/>
          </a:xfrm>
          <a:prstGeom prst="round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7 Start
Grafana</a:t>
            </a:r>
          </a:p>
        </p:txBody>
      </p:sp>
      <p:sp>
        <p:nvSpPr>
          <p:cNvPr id="15" name="Rounded Rectangle 14"/>
          <p:cNvSpPr/>
          <p:nvPr/>
        </p:nvSpPr>
        <p:spPr>
          <a:xfrm>
            <a:off x="411480" y="2743200"/>
            <a:ext cx="2697480" cy="868680"/>
          </a:xfrm>
          <a:prstGeom prst="round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0E2A47"/>
                </a:solidFill>
                <a:latin typeface="Segoe UI"/>
              </a:rPr>
              <a:t>8 base_install
(fresh DB only)</a:t>
            </a:r>
          </a:p>
        </p:txBody>
      </p:sp>
      <p:sp>
        <p:nvSpPr>
          <p:cNvPr id="16" name="Rounded Rectangle 15"/>
          <p:cNvSpPr/>
          <p:nvPr/>
        </p:nvSpPr>
        <p:spPr>
          <a:xfrm>
            <a:off x="411480" y="4069080"/>
            <a:ext cx="2697480" cy="868680"/>
          </a:xfrm>
          <a:prstGeom prst="round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9 Run postgres\install
migrations → ledger</a:t>
            </a:r>
          </a:p>
        </p:txBody>
      </p:sp>
      <p:cxnSp>
        <p:nvCxnSpPr>
          <p:cNvPr id="17" name="Connector 16"/>
          <p:cNvCxnSpPr/>
          <p:nvPr/>
        </p:nvCxnSpPr>
        <p:spPr>
          <a:xfrm>
            <a:off x="3108960" y="1851660"/>
            <a:ext cx="182880" cy="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989320" y="1851660"/>
            <a:ext cx="182880" cy="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69680" y="1851660"/>
            <a:ext cx="182880" cy="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401300" y="2286000"/>
            <a:ext cx="0" cy="45720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6172200" y="3177540"/>
            <a:ext cx="5577840" cy="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291840" y="3177540"/>
            <a:ext cx="5577840" cy="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11480" y="3177540"/>
            <a:ext cx="5577840" cy="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760220" y="3611880"/>
            <a:ext cx="0" cy="457200"/>
          </a:xfrm>
          <a:prstGeom prst="line">
            <a:avLst/>
          </a:prstGeom>
          <a:ln w="1524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1480" y="4846320"/>
            <a:ext cx="11338560" cy="1097280"/>
          </a:xfrm>
          <a:prstGeom prst="rect">
            <a:avLst/>
          </a:prstGeom>
          <a:noFill/>
        </p:spPr>
        <p:txBody>
          <a:bodyPr wrap="square" anchor="t" lIns="27432" rIns="27432" tIns="27432" bIns="27432">
            <a:spAutoFit/>
          </a:bodyPr>
          <a:lstStyle/>
          <a:p>
            <a:r>
              <a:rPr sz="1100" b="0" i="1">
                <a:solidFill>
                  <a:srgbClr val="536474"/>
                </a:solidFill>
                <a:latin typeface="Segoe UI"/>
              </a:rPr>
              <a:t>Also re-imports dbdome_cert.cer into the machine trust store. Service reinstall auto-detects split (DBDOME_scheduler + DBDOME_web) vs combined (DBDOME_dbanalytics) builds. Steps 8–9 = the database upgrade.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BINARY + GRAFANA REFRESH ON THE TARGET
</a:t>
            </a:r>
            <a:r>
              <a:rPr sz="2400" b="1" i="0">
                <a:solidFill>
                  <a:srgbClr val="FFFFFF"/>
                </a:solidFill>
                <a:latin typeface="Segoe UI"/>
              </a:rPr>
              <a:t>Deploy process</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5</a:t>
            </a:r>
          </a:p>
        </p:txBody>
      </p:sp>
      <p:sp>
        <p:nvSpPr>
          <p:cNvPr id="8" name="TextBox 7"/>
          <p:cNvSpPr txBox="1"/>
          <p:nvPr/>
        </p:nvSpPr>
        <p:spPr>
          <a:xfrm>
            <a:off x="548640" y="1280160"/>
            <a:ext cx="11064240" cy="493776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On the target (update.py)</a:t>
            </a:r>
            <a:r>
              <a:rPr sz="1300" b="0" i="0">
                <a:solidFill>
                  <a:srgbClr val="1B2A38"/>
                </a:solidFill>
                <a:latin typeface="Segoe UI"/>
              </a:rPr>
              <a:t>  stop DBDOME_scheduler + DBDOME_web → replace dbdome_service.exe + bin\ files + _internal → reinstall &amp; restart services → stop dbdomeg-server → replace data\grafana.db → start Grafana.</a:t>
            </a:r>
          </a:p>
          <a:p>
            <a:pPr>
              <a:spcBef>
                <a:spcPts val="600"/>
              </a:spcBef>
            </a:pPr>
            <a:r>
              <a:rPr sz="1200" b="1" i="0">
                <a:solidFill>
                  <a:srgbClr val="1FB6B6"/>
                </a:solidFill>
                <a:latin typeface="Segoe UI"/>
              </a:rPr>
              <a:t>▪  </a:t>
            </a:r>
            <a:r>
              <a:rPr sz="1350" b="1" i="0">
                <a:solidFill>
                  <a:srgbClr val="1B2A38"/>
                </a:solidFill>
                <a:latin typeface="Segoe UI"/>
              </a:rPr>
              <a:t>Service model auto-detected</a:t>
            </a:r>
            <a:r>
              <a:rPr sz="1300" b="0" i="0">
                <a:solidFill>
                  <a:srgbClr val="1B2A38"/>
                </a:solidFill>
                <a:latin typeface="Segoe UI"/>
              </a:rPr>
              <a:t>  reinstall picks split (DBDOME_scheduler + DBDOME_web) or combined (DBDOME_dbanalytics) based on the NEW exe's capability; combined builds reject --service.</a:t>
            </a:r>
          </a:p>
          <a:p>
            <a:pPr>
              <a:spcBef>
                <a:spcPts val="600"/>
              </a:spcBef>
            </a:pPr>
            <a:r>
              <a:rPr sz="1200" b="1" i="0">
                <a:solidFill>
                  <a:srgbClr val="1FB6B6"/>
                </a:solidFill>
                <a:latin typeface="Segoe UI"/>
              </a:rPr>
              <a:t>▪  </a:t>
            </a:r>
            <a:r>
              <a:rPr sz="1350" b="1" i="0">
                <a:solidFill>
                  <a:srgbClr val="1B2A38"/>
                </a:solidFill>
                <a:latin typeface="Segoe UI"/>
              </a:rPr>
              <a:t>Preserved</a:t>
            </a:r>
            <a:r>
              <a:rPr sz="1300" b="0" i="0">
                <a:solidFill>
                  <a:srgbClr val="1B2A38"/>
                </a:solidFill>
                <a:latin typeface="Segoe UI"/>
              </a:rPr>
              <a:t>  bin\.env (PG creds, DBDOME_SECRET_KEY, ORG_IP) is never overwritten; PostgreSQL and its data stay in place.</a:t>
            </a:r>
          </a:p>
          <a:p>
            <a:pPr>
              <a:spcBef>
                <a:spcPts val="600"/>
              </a:spcBef>
            </a:pPr>
            <a:r>
              <a:rPr sz="1200" b="1" i="0">
                <a:solidFill>
                  <a:srgbClr val="1FB6B6"/>
                </a:solidFill>
                <a:latin typeface="Segoe UI"/>
              </a:rPr>
              <a:t>▪  </a:t>
            </a:r>
            <a:r>
              <a:rPr sz="1350" b="1" i="0">
                <a:solidFill>
                  <a:srgbClr val="1B2A38"/>
                </a:solidFill>
                <a:latin typeface="Segoe UI"/>
              </a:rPr>
              <a:t>Build-side staging</a:t>
            </a:r>
            <a:r>
              <a:rPr sz="1300" b="0" i="0">
                <a:solidFill>
                  <a:srgbClr val="1B2A38"/>
                </a:solidFill>
                <a:latin typeface="Segoe UI"/>
              </a:rPr>
              <a:t>  deploy_all_three.ps1 copies the freshly-built, SIGNED dist_rd bundle into C:\installs\dbdome_update\dbdome\bin (no services) — that staged payload is packaged into dbdome_update.exe and shipped on media.</a:t>
            </a:r>
          </a:p>
          <a:p>
            <a:pPr>
              <a:spcBef>
                <a:spcPts val="600"/>
              </a:spcBef>
            </a:pPr>
            <a:r>
              <a:rPr sz="1200" b="1" i="0">
                <a:solidFill>
                  <a:srgbClr val="1FB6B6"/>
                </a:solidFill>
                <a:latin typeface="Segoe UI"/>
              </a:rPr>
              <a:t>▪  </a:t>
            </a:r>
            <a:r>
              <a:rPr sz="1350" b="1" i="0">
                <a:solidFill>
                  <a:srgbClr val="1B2A38"/>
                </a:solidFill>
                <a:latin typeface="Segoe UI"/>
              </a:rPr>
              <a:t>Trust</a:t>
            </a:r>
            <a:r>
              <a:rPr sz="1300" b="0" i="0">
                <a:solidFill>
                  <a:srgbClr val="1B2A38"/>
                </a:solidFill>
                <a:latin typeface="Segoe UI"/>
              </a:rPr>
              <a:t>  the updater re-imports the shipped public .cer so the swapped signed binaries run without an “Unknown Publisher” prompt.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CERTIFICATION/
</a:t>
            </a:r>
            <a:r>
              <a:rPr sz="2400" b="1" i="0">
                <a:solidFill>
                  <a:srgbClr val="FFFFFF"/>
                </a:solidFill>
                <a:latin typeface="Segoe UI"/>
              </a:rPr>
              <a:t>Signature — signing &amp; trust on update</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6</a:t>
            </a:r>
          </a:p>
        </p:txBody>
      </p:sp>
      <p:sp>
        <p:nvSpPr>
          <p:cNvPr id="8" name="TextBox 7"/>
          <p:cNvSpPr txBox="1"/>
          <p:nvPr/>
        </p:nvSpPr>
        <p:spPr>
          <a:xfrm>
            <a:off x="548640" y="1280160"/>
            <a:ext cx="11064240" cy="493776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Signed at build</a:t>
            </a:r>
            <a:r>
              <a:rPr sz="1300" b="0" i="0">
                <a:solidFill>
                  <a:srgbClr val="1B2A38"/>
                </a:solidFill>
                <a:latin typeface="Segoe UI"/>
              </a:rPr>
              <a:t>  sign_dbdome.ps1 Authenticode-signs the dist_rd exes, the dbdome_update (and dbdome_setup) payload exes, and the installer executables (dbdome_update.exe / dbdome_setup.exe) with dbdome_cert.pfx — SHA-256 digest + RFC3161 trusted timestamp.</a:t>
            </a:r>
          </a:p>
          <a:p>
            <a:pPr>
              <a:spcBef>
                <a:spcPts val="600"/>
              </a:spcBef>
            </a:pPr>
            <a:r>
              <a:rPr sz="1200" b="1" i="0">
                <a:solidFill>
                  <a:srgbClr val="1FB6B6"/>
                </a:solidFill>
                <a:latin typeface="Segoe UI"/>
              </a:rPr>
              <a:t>▪  </a:t>
            </a:r>
            <a:r>
              <a:rPr sz="1350" b="1" i="0">
                <a:solidFill>
                  <a:srgbClr val="1B2A38"/>
                </a:solidFill>
                <a:latin typeface="Segoe UI"/>
              </a:rPr>
              <a:t>Not re-signed</a:t>
            </a:r>
            <a:r>
              <a:rPr sz="1300" b="0" i="0">
                <a:solidFill>
                  <a:srgbClr val="1B2A38"/>
                </a:solidFill>
                <a:latin typeface="Segoe UI"/>
              </a:rPr>
              <a:t>  third-party binaries (grafana/dbdomeg, nssm) keep their vendors’ signatures.</a:t>
            </a:r>
          </a:p>
          <a:p>
            <a:pPr>
              <a:spcBef>
                <a:spcPts val="600"/>
              </a:spcBef>
            </a:pPr>
            <a:r>
              <a:rPr sz="1200" b="1" i="0">
                <a:solidFill>
                  <a:srgbClr val="1FB6B6"/>
                </a:solidFill>
                <a:latin typeface="Segoe UI"/>
              </a:rPr>
              <a:t>▪  </a:t>
            </a:r>
            <a:r>
              <a:rPr sz="1350" b="1" i="0">
                <a:solidFill>
                  <a:srgbClr val="1B2A38"/>
                </a:solidFill>
                <a:latin typeface="Segoe UI"/>
              </a:rPr>
              <a:t>Trust re-imported on update</a:t>
            </a:r>
            <a:r>
              <a:rPr sz="1300" b="0" i="0">
                <a:solidFill>
                  <a:srgbClr val="1B2A38"/>
                </a:solidFill>
                <a:latin typeface="Segoe UI"/>
              </a:rPr>
              <a:t>  update.py imports the public dbdome_cert.cer (shipped in bin\certification) into the machine trust stores every run, so refreshed signed binaries are trusted.</a:t>
            </a:r>
          </a:p>
          <a:p>
            <a:pPr>
              <a:spcBef>
                <a:spcPts val="600"/>
              </a:spcBef>
            </a:pPr>
            <a:r>
              <a:rPr sz="1200" b="1" i="0">
                <a:solidFill>
                  <a:srgbClr val="1FB6B6"/>
                </a:solidFill>
                <a:latin typeface="Segoe UI"/>
              </a:rPr>
              <a:t>▪  </a:t>
            </a:r>
            <a:r>
              <a:rPr sz="1350" b="1" i="0">
                <a:solidFill>
                  <a:srgbClr val="1B2A38"/>
                </a:solidFill>
                <a:latin typeface="Segoe UI"/>
              </a:rPr>
              <a:t>Timestamped</a:t>
            </a:r>
            <a:r>
              <a:rPr sz="1300" b="0" i="0">
                <a:solidFill>
                  <a:srgbClr val="1B2A38"/>
                </a:solidFill>
                <a:latin typeface="Segoe UI"/>
              </a:rPr>
              <a:t>  the RFC3161 countersignature keeps signatures valid after the signing cert expires.</a:t>
            </a:r>
          </a:p>
          <a:p>
            <a:pPr>
              <a:spcBef>
                <a:spcPts val="600"/>
              </a:spcBef>
            </a:pPr>
            <a:r>
              <a:rPr sz="1200" b="1" i="0">
                <a:solidFill>
                  <a:srgbClr val="1FB6B6"/>
                </a:solidFill>
                <a:latin typeface="Segoe UI"/>
              </a:rPr>
              <a:t>▪  </a:t>
            </a:r>
            <a:r>
              <a:rPr sz="1350" b="1" i="0">
                <a:solidFill>
                  <a:srgbClr val="1B2A38"/>
                </a:solidFill>
                <a:latin typeface="Segoe UI"/>
              </a:rPr>
              <a:t>Verify</a:t>
            </a:r>
            <a:r>
              <a:rPr sz="1300" b="0" i="0">
                <a:solidFill>
                  <a:srgbClr val="1B2A38"/>
                </a:solidFill>
                <a:latin typeface="Segoe UI"/>
              </a:rPr>
              <a:t>  signtool verify /pa confirms the chain; the live exes become signed simply by deploying the signed payload.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HOW EVERY .SQL IS APPLIED
</a:t>
            </a:r>
            <a:r>
              <a:rPr sz="2400" b="1" i="0">
                <a:solidFill>
                  <a:srgbClr val="FFFFFF"/>
                </a:solidFill>
                <a:latin typeface="Segoe UI"/>
              </a:rPr>
              <a:t>Runscript engine — sql_script_runner.py</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7</a:t>
            </a:r>
          </a:p>
        </p:txBody>
      </p:sp>
      <p:sp>
        <p:nvSpPr>
          <p:cNvPr id="8" name="TextBox 7"/>
          <p:cNvSpPr txBox="1"/>
          <p:nvPr/>
        </p:nvSpPr>
        <p:spPr>
          <a:xfrm>
            <a:off x="548640" y="1280160"/>
            <a:ext cx="11064240" cy="493776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Ordering</a:t>
            </a:r>
            <a:r>
              <a:rPr sz="1300" b="0" i="0">
                <a:solidFill>
                  <a:srgbClr val="1B2A38"/>
                </a:solidFill>
                <a:latin typeface="Segoe UI"/>
              </a:rPr>
              <a:t>  all *.sql applied in strict case-insensitive FILENAME order; a zero-padded sequence prefix (0001_ … 7350_) is the sequence.</a:t>
            </a:r>
          </a:p>
          <a:p>
            <a:pPr>
              <a:spcBef>
                <a:spcPts val="600"/>
              </a:spcBef>
            </a:pPr>
            <a:r>
              <a:rPr sz="1200" b="1" i="0">
                <a:solidFill>
                  <a:srgbClr val="1FB6B6"/>
                </a:solidFill>
                <a:latin typeface="Segoe UI"/>
              </a:rPr>
              <a:t>▪  </a:t>
            </a:r>
            <a:r>
              <a:rPr sz="1350" b="1" i="0">
                <a:solidFill>
                  <a:srgbClr val="1B2A38"/>
                </a:solidFill>
                <a:latin typeface="Segoe UI"/>
              </a:rPr>
              <a:t>Delta by checksum</a:t>
            </a:r>
            <a:r>
              <a:rPr sz="1300" b="0" i="0">
                <a:solidFill>
                  <a:srgbClr val="1B2A38"/>
                </a:solidFill>
                <a:latin typeface="Segoe UI"/>
              </a:rPr>
              <a:t>  each script is SHA-256 checksummed (line-ending-insensitive); it runs only when its (filename, checksum) has not succeeded before. New script → apply; edited CREATE OR REPLACE → re-apply; unchanged → skip (no-op).</a:t>
            </a:r>
          </a:p>
          <a:p>
            <a:pPr>
              <a:spcBef>
                <a:spcPts val="600"/>
              </a:spcBef>
            </a:pPr>
            <a:r>
              <a:rPr sz="1200" b="1" i="0">
                <a:solidFill>
                  <a:srgbClr val="1FB6B6"/>
                </a:solidFill>
                <a:latin typeface="Segoe UI"/>
              </a:rPr>
              <a:t>▪  </a:t>
            </a:r>
            <a:r>
              <a:rPr sz="1350" b="1" i="0">
                <a:solidFill>
                  <a:srgbClr val="1B2A38"/>
                </a:solidFill>
                <a:latin typeface="Segoe UI"/>
              </a:rPr>
              <a:t>Ledger = the version</a:t>
            </a:r>
            <a:r>
              <a:rPr sz="1300" b="0" i="0">
                <a:solidFill>
                  <a:srgbClr val="1B2A38"/>
                </a:solidFill>
                <a:latin typeface="Segoe UI"/>
              </a:rPr>
              <a:t>  meta.schema_migrations (filename, checksum, applied_at, execution_ms, success, error) — the applied set IS the DB version; no explicit version number to track.</a:t>
            </a:r>
          </a:p>
          <a:p>
            <a:pPr>
              <a:spcBef>
                <a:spcPts val="600"/>
              </a:spcBef>
            </a:pPr>
            <a:r>
              <a:rPr sz="1200" b="1" i="0">
                <a:solidFill>
                  <a:srgbClr val="1FB6B6"/>
                </a:solidFill>
                <a:latin typeface="Segoe UI"/>
              </a:rPr>
              <a:t>▪  </a:t>
            </a:r>
            <a:r>
              <a:rPr sz="1350" b="1" i="0">
                <a:solidFill>
                  <a:srgbClr val="1B2A38"/>
                </a:solidFill>
                <a:latin typeface="Segoe UI"/>
              </a:rPr>
              <a:t>Concurrency &amp; atomicity</a:t>
            </a:r>
            <a:r>
              <a:rPr sz="1300" b="0" i="0">
                <a:solidFill>
                  <a:srgbClr val="1B2A38"/>
                </a:solidFill>
                <a:latin typeface="Segoe UI"/>
              </a:rPr>
              <a:t>  pg_advisory_lock(727274) serialises runners (each service startup calls it); each script + its ledger row commit in one transaction.</a:t>
            </a:r>
          </a:p>
          <a:p>
            <a:pPr>
              <a:spcBef>
                <a:spcPts val="600"/>
              </a:spcBef>
            </a:pPr>
            <a:r>
              <a:rPr sz="1200" b="1" i="0">
                <a:solidFill>
                  <a:srgbClr val="1FB6B6"/>
                </a:solidFill>
                <a:latin typeface="Segoe UI"/>
              </a:rPr>
              <a:t>▪  </a:t>
            </a:r>
            <a:r>
              <a:rPr sz="1350" b="1" i="0">
                <a:solidFill>
                  <a:srgbClr val="1B2A38"/>
                </a:solidFill>
                <a:latin typeface="Segoe UI"/>
              </a:rPr>
              <a:t>Fail-open</a:t>
            </a:r>
            <a:r>
              <a:rPr sz="1300" b="0" i="0">
                <a:solidFill>
                  <a:srgbClr val="1B2A38"/>
                </a:solidFill>
                <a:latin typeface="Segoe UI"/>
              </a:rPr>
              <a:t>  a failing script is logged + recorded, then the run CONTINUES — one broken view never blocks the rest (also surfaced as FAILED_SCRIPTS by the updater).</a:t>
            </a:r>
          </a:p>
          <a:p>
            <a:pPr>
              <a:spcBef>
                <a:spcPts val="600"/>
              </a:spcBef>
            </a:pPr>
            <a:r>
              <a:rPr sz="1200" b="1" i="0">
                <a:solidFill>
                  <a:srgbClr val="1FB6B6"/>
                </a:solidFill>
                <a:latin typeface="Segoe UI"/>
              </a:rPr>
              <a:t>▪  </a:t>
            </a:r>
            <a:r>
              <a:rPr sz="1350" b="1" i="0">
                <a:solidFill>
                  <a:srgbClr val="1B2A38"/>
                </a:solidFill>
                <a:latin typeface="Segoe UI"/>
              </a:rPr>
              <a:t>Sources (additive, first-wins)</a:t>
            </a:r>
            <a:r>
              <a:rPr sz="1300" b="0" i="0">
                <a:solidFill>
                  <a:srgbClr val="1B2A38"/>
                </a:solidFill>
                <a:latin typeface="Segoe UI"/>
              </a:rPr>
              <a:t>  SQL_SCRIPTS_DIR → ..\postgres\install (shipped update set) → exe\sql_scripts → bundled _internal\sql_scripts → repo. Both the update payload and the bundled exe feed one ledger; also re-run daily by the service.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ENUMERATED SCRIPTS DRIVE IT
</a:t>
            </a:r>
            <a:r>
              <a:rPr sz="2400" b="1" i="0">
                <a:solidFill>
                  <a:srgbClr val="FFFFFF"/>
                </a:solidFill>
                <a:latin typeface="Segoe UI"/>
              </a:rPr>
              <a:t>Database upgrade process</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8</a:t>
            </a:r>
          </a:p>
        </p:txBody>
      </p:sp>
      <p:sp>
        <p:nvSpPr>
          <p:cNvPr id="8" name="Rounded Rectangle 7"/>
          <p:cNvSpPr/>
          <p:nvPr/>
        </p:nvSpPr>
        <p:spPr>
          <a:xfrm>
            <a:off x="411480" y="1371600"/>
            <a:ext cx="1828800" cy="960120"/>
          </a:xfrm>
          <a:prstGeom prst="round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base_install
(fresh DB only)</a:t>
            </a:r>
          </a:p>
        </p:txBody>
      </p:sp>
      <p:sp>
        <p:nvSpPr>
          <p:cNvPr id="9" name="Rounded Rectangle 8"/>
          <p:cNvSpPr/>
          <p:nvPr/>
        </p:nvSpPr>
        <p:spPr>
          <a:xfrm>
            <a:off x="2313432" y="1371600"/>
            <a:ext cx="1828800" cy="960120"/>
          </a:xfrm>
          <a:prstGeom prst="roundRect">
            <a:avLst/>
          </a:prstGeom>
          <a:solidFill>
            <a:srgbClr val="143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Order 0001→7350
by filename</a:t>
            </a:r>
          </a:p>
        </p:txBody>
      </p:sp>
      <p:cxnSp>
        <p:nvCxnSpPr>
          <p:cNvPr id="10" name="Connector 9"/>
          <p:cNvCxnSpPr/>
          <p:nvPr/>
        </p:nvCxnSpPr>
        <p:spPr>
          <a:xfrm>
            <a:off x="2240280" y="1851660"/>
            <a:ext cx="73152" cy="0"/>
          </a:xfrm>
          <a:prstGeom prst="line">
            <a:avLst/>
          </a:prstGeom>
          <a:ln w="1651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15384" y="1371600"/>
            <a:ext cx="1828800" cy="960120"/>
          </a:xfrm>
          <a:prstGeom prst="round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0E2A47"/>
                </a:solidFill>
                <a:latin typeface="Segoe UI"/>
              </a:rPr>
              <a:t>Delta vs ledger
(filename+checksum)</a:t>
            </a:r>
          </a:p>
        </p:txBody>
      </p:sp>
      <p:cxnSp>
        <p:nvCxnSpPr>
          <p:cNvPr id="12" name="Connector 11"/>
          <p:cNvCxnSpPr/>
          <p:nvPr/>
        </p:nvCxnSpPr>
        <p:spPr>
          <a:xfrm>
            <a:off x="4142232" y="1851660"/>
            <a:ext cx="73152" cy="0"/>
          </a:xfrm>
          <a:prstGeom prst="line">
            <a:avLst/>
          </a:prstGeom>
          <a:ln w="1651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17336" y="1371600"/>
            <a:ext cx="1828800" cy="960120"/>
          </a:xfrm>
          <a:prstGeom prst="round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0E2A47"/>
                </a:solidFill>
                <a:latin typeface="Segoe UI"/>
              </a:rPr>
              <a:t>Apply new / changed
per-script txn</a:t>
            </a:r>
          </a:p>
        </p:txBody>
      </p:sp>
      <p:cxnSp>
        <p:nvCxnSpPr>
          <p:cNvPr id="14" name="Connector 13"/>
          <p:cNvCxnSpPr/>
          <p:nvPr/>
        </p:nvCxnSpPr>
        <p:spPr>
          <a:xfrm>
            <a:off x="6044184" y="1851660"/>
            <a:ext cx="73152" cy="0"/>
          </a:xfrm>
          <a:prstGeom prst="line">
            <a:avLst/>
          </a:prstGeom>
          <a:ln w="1651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19288" y="1371600"/>
            <a:ext cx="1828800" cy="960120"/>
          </a:xfrm>
          <a:prstGeom prst="round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Record state
meta.schema_migrations</a:t>
            </a:r>
          </a:p>
        </p:txBody>
      </p:sp>
      <p:cxnSp>
        <p:nvCxnSpPr>
          <p:cNvPr id="16" name="Connector 15"/>
          <p:cNvCxnSpPr/>
          <p:nvPr/>
        </p:nvCxnSpPr>
        <p:spPr>
          <a:xfrm>
            <a:off x="7946136" y="1851660"/>
            <a:ext cx="73152" cy="0"/>
          </a:xfrm>
          <a:prstGeom prst="line">
            <a:avLst/>
          </a:prstGeom>
          <a:ln w="1651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921240" y="1371600"/>
            <a:ext cx="1828800" cy="960120"/>
          </a:xfrm>
          <a:prstGeom prst="roundRect">
            <a:avLst/>
          </a:prstGeom>
          <a:solidFill>
            <a:srgbClr val="143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050" b="1" i="0">
                <a:solidFill>
                  <a:srgbClr val="FFFFFF"/>
                </a:solidFill>
                <a:latin typeface="Segoe UI"/>
              </a:rPr>
              <a:t>FAILED_SCRIPTS
report</a:t>
            </a:r>
          </a:p>
        </p:txBody>
      </p:sp>
      <p:cxnSp>
        <p:nvCxnSpPr>
          <p:cNvPr id="18" name="Connector 17"/>
          <p:cNvCxnSpPr/>
          <p:nvPr/>
        </p:nvCxnSpPr>
        <p:spPr>
          <a:xfrm>
            <a:off x="9848088" y="1851660"/>
            <a:ext cx="73152" cy="0"/>
          </a:xfrm>
          <a:prstGeom prst="line">
            <a:avLst/>
          </a:prstGeom>
          <a:ln w="1651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2651760"/>
            <a:ext cx="11064240" cy="365760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base_install</a:t>
            </a:r>
            <a:r>
              <a:rPr sz="1300" b="0" i="0">
                <a:solidFill>
                  <a:srgbClr val="1B2A38"/>
                </a:solidFill>
                <a:latin typeface="Segoe UI"/>
              </a:rPr>
              <a:t>  sql_scripts\base_install bootstraps schemas + tables on a FRESH/empty catalog only; on an existing install it is a no-op — so the same package installs or upgrades.</a:t>
            </a:r>
          </a:p>
          <a:p>
            <a:pPr>
              <a:spcBef>
                <a:spcPts val="600"/>
              </a:spcBef>
            </a:pPr>
            <a:r>
              <a:rPr sz="1200" b="1" i="0">
                <a:solidFill>
                  <a:srgbClr val="1FB6B6"/>
                </a:solidFill>
                <a:latin typeface="Segoe UI"/>
              </a:rPr>
              <a:t>▪  </a:t>
            </a:r>
            <a:r>
              <a:rPr sz="1350" b="1" i="0">
                <a:solidFill>
                  <a:srgbClr val="1B2A38"/>
                </a:solidFill>
                <a:latin typeface="Segoe UI"/>
              </a:rPr>
              <a:t>Upgrade = apply the delta</a:t>
            </a:r>
            <a:r>
              <a:rPr sz="1300" b="0" i="0">
                <a:solidFill>
                  <a:srgbClr val="1B2A38"/>
                </a:solidFill>
                <a:latin typeface="Segoe UI"/>
              </a:rPr>
              <a:t>  the updater runs the whole ordered set, but the ledger makes it apply only scripts that are new or whose content changed since this box’s last run. Upgrading from any prior version “just works” — you ship the full set, the ledger decides.</a:t>
            </a:r>
          </a:p>
          <a:p>
            <a:pPr>
              <a:spcBef>
                <a:spcPts val="600"/>
              </a:spcBef>
            </a:pPr>
            <a:r>
              <a:rPr sz="1200" b="1" i="0">
                <a:solidFill>
                  <a:srgbClr val="1FB6B6"/>
                </a:solidFill>
                <a:latin typeface="Segoe UI"/>
              </a:rPr>
              <a:t>▪  </a:t>
            </a:r>
            <a:r>
              <a:rPr sz="1350" b="1" i="0">
                <a:solidFill>
                  <a:srgbClr val="1B2A38"/>
                </a:solidFill>
                <a:latin typeface="Segoe UI"/>
              </a:rPr>
              <a:t>Deterministic &amp; resumable</a:t>
            </a:r>
            <a:r>
              <a:rPr sz="1300" b="0" i="0">
                <a:solidFill>
                  <a:srgbClr val="1B2A38"/>
                </a:solidFill>
                <a:latin typeface="Segoe UI"/>
              </a:rPr>
              <a:t>  strict filename order + advisory lock + per-script atomic commit; a re-run after a failure retries only the unresolved scripts.</a:t>
            </a:r>
          </a:p>
          <a:p>
            <a:pPr>
              <a:spcBef>
                <a:spcPts val="600"/>
              </a:spcBef>
            </a:pPr>
            <a:r>
              <a:rPr sz="1200" b="1" i="0">
                <a:solidFill>
                  <a:srgbClr val="1FB6B6"/>
                </a:solidFill>
                <a:latin typeface="Segoe UI"/>
              </a:rPr>
              <a:t>▪  </a:t>
            </a:r>
            <a:r>
              <a:rPr sz="1350" b="1" i="0">
                <a:solidFill>
                  <a:srgbClr val="1B2A38"/>
                </a:solidFill>
                <a:latin typeface="Segoe UI"/>
              </a:rPr>
              <a:t>Observability</a:t>
            </a:r>
            <a:r>
              <a:rPr sz="1300" b="0" i="0">
                <a:solidFill>
                  <a:srgbClr val="1B2A38"/>
                </a:solidFill>
                <a:latin typeface="Segoe UI"/>
              </a:rPr>
              <a:t>  every script lands as applied / re-applied / skipped / error in meta.schema_migrations; the updater prints a FAILED_SCRIPTS summary.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302 MIGRATIONS (+ BASE_INSTALL)
</a:t>
            </a:r>
            <a:r>
              <a:rPr sz="2400" b="1" i="0">
                <a:solidFill>
                  <a:srgbClr val="FFFFFF"/>
                </a:solidFill>
                <a:latin typeface="Segoe UI"/>
              </a:rPr>
              <a:t>Enumerated SQL script bands</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9</a:t>
            </a:r>
          </a:p>
        </p:txBody>
      </p:sp>
      <p:graphicFrame>
        <p:nvGraphicFramePr>
          <p:cNvPr id="8" name="Table 7"/>
          <p:cNvGraphicFramePr>
            <a:graphicFrameLocks noGrp="1"/>
          </p:cNvGraphicFramePr>
          <p:nvPr/>
        </p:nvGraphicFramePr>
        <p:xfrm>
          <a:off x="548640" y="1234440"/>
          <a:ext cx="11064239" cy="4937760"/>
        </p:xfrm>
        <a:graphic>
          <a:graphicData uri="http://schemas.openxmlformats.org/drawingml/2006/table">
            <a:tbl>
              <a:tblPr firstRow="1" bandRow="1">
                <a:tableStyleId>{5C22544A-7EE6-4342-B048-85BDC9FD1C3A}</a:tableStyleId>
              </a:tblPr>
              <a:tblGrid>
                <a:gridCol w="1406471"/>
                <a:gridCol w="562588"/>
                <a:gridCol w="4406943"/>
                <a:gridCol w="4688237"/>
              </a:tblGrid>
              <a:tr h="705394">
                <a:tc>
                  <a:txBody>
                    <a:bodyPr wrap="square"/>
                    <a:lstStyle/>
                    <a:p>
                      <a:r>
                        <a:rPr sz="1100" b="1" i="0">
                          <a:solidFill>
                            <a:srgbClr val="FFFFFF"/>
                          </a:solidFill>
                          <a:latin typeface="Segoe UI"/>
                        </a:rPr>
                        <a:t>Band</a:t>
                      </a:r>
                    </a:p>
                  </a:txBody>
                  <a:tcPr anchor="ctr" marL="54864" marR="54864" marT="18288" marB="18288">
                    <a:solidFill>
                      <a:srgbClr val="0E2A47"/>
                    </a:solidFill>
                  </a:tcPr>
                </a:tc>
                <a:tc>
                  <a:txBody>
                    <a:bodyPr wrap="square"/>
                    <a:lstStyle/>
                    <a:p>
                      <a:r>
                        <a:rPr sz="1100" b="1" i="0">
                          <a:solidFill>
                            <a:srgbClr val="FFFFFF"/>
                          </a:solidFill>
                          <a:latin typeface="Segoe UI"/>
                        </a:rPr>
                        <a:t>#</a:t>
                      </a:r>
                    </a:p>
                  </a:txBody>
                  <a:tcPr anchor="ctr" marL="54864" marR="54864" marT="18288" marB="18288">
                    <a:solidFill>
                      <a:srgbClr val="0E2A47"/>
                    </a:solidFill>
                  </a:tcPr>
                </a:tc>
                <a:tc>
                  <a:txBody>
                    <a:bodyPr wrap="square"/>
                    <a:lstStyle/>
                    <a:p>
                      <a:r>
                        <a:rPr sz="1100" b="1" i="0">
                          <a:solidFill>
                            <a:srgbClr val="FFFFFF"/>
                          </a:solidFill>
                          <a:latin typeface="Segoe UI"/>
                        </a:rPr>
                        <a:t>Purpose</a:t>
                      </a:r>
                    </a:p>
                  </a:txBody>
                  <a:tcPr anchor="ctr" marL="54864" marR="54864" marT="18288" marB="18288">
                    <a:solidFill>
                      <a:srgbClr val="0E2A47"/>
                    </a:solidFill>
                  </a:tcPr>
                </a:tc>
                <a:tc>
                  <a:txBody>
                    <a:bodyPr wrap="square"/>
                    <a:lstStyle/>
                    <a:p>
                      <a:r>
                        <a:rPr sz="1100" b="1" i="0">
                          <a:solidFill>
                            <a:srgbClr val="FFFFFF"/>
                          </a:solidFill>
                          <a:latin typeface="Segoe UI"/>
                        </a:rPr>
                        <a:t>Representative scripts</a:t>
                      </a:r>
                    </a:p>
                  </a:txBody>
                  <a:tcPr anchor="ctr" marL="54864" marR="54864" marT="18288" marB="18288">
                    <a:solidFill>
                      <a:srgbClr val="0E2A47"/>
                    </a:solidFill>
                  </a:tcPr>
                </a:tc>
              </a:tr>
              <a:tr h="705394">
                <a:tc>
                  <a:txBody>
                    <a:bodyPr wrap="square"/>
                    <a:lstStyle/>
                    <a:p>
                      <a:r>
                        <a:rPr sz="1050" b="1" i="0">
                          <a:solidFill>
                            <a:srgbClr val="1B2A38"/>
                          </a:solidFill>
                          <a:latin typeface="Segoe UI"/>
                        </a:rPr>
                        <a:t>base_install</a:t>
                      </a:r>
                    </a:p>
                  </a:txBody>
                  <a:tcPr anchor="ctr" marL="54864" marR="54864" marT="18288" marB="18288">
                    <a:solidFill>
                      <a:srgbClr val="F4F7FA"/>
                    </a:solidFill>
                  </a:tcPr>
                </a:tc>
                <a:tc>
                  <a:txBody>
                    <a:bodyPr wrap="square"/>
                    <a:lstStyle/>
                    <a:p>
                      <a:r>
                        <a:rPr sz="1050" b="0" i="0">
                          <a:solidFill>
                            <a:srgbClr val="1B2A38"/>
                          </a:solidFill>
                          <a:latin typeface="Segoe UI"/>
                        </a:rPr>
                        <a:t>—</a:t>
                      </a:r>
                    </a:p>
                  </a:txBody>
                  <a:tcPr anchor="ctr" marL="54864" marR="54864" marT="18288" marB="18288">
                    <a:solidFill>
                      <a:srgbClr val="F4F7FA"/>
                    </a:solidFill>
                  </a:tcPr>
                </a:tc>
                <a:tc>
                  <a:txBody>
                    <a:bodyPr wrap="square"/>
                    <a:lstStyle/>
                    <a:p>
                      <a:r>
                        <a:rPr sz="1050" b="0" i="0">
                          <a:solidFill>
                            <a:srgbClr val="1B2A38"/>
                          </a:solidFill>
                          <a:latin typeface="Segoe UI"/>
                        </a:rPr>
                        <a:t>fresh-DB bootstrap: schemas, tables, FKs, views &amp; functions</a:t>
                      </a:r>
                    </a:p>
                  </a:txBody>
                  <a:tcPr anchor="ctr" marL="54864" marR="54864" marT="18288" marB="18288">
                    <a:solidFill>
                      <a:srgbClr val="F4F7FA"/>
                    </a:solidFill>
                  </a:tcPr>
                </a:tc>
                <a:tc>
                  <a:txBody>
                    <a:bodyPr wrap="square"/>
                    <a:lstStyle/>
                    <a:p>
                      <a:r>
                        <a:rPr sz="1050" b="0" i="0">
                          <a:solidFill>
                            <a:srgbClr val="1B2A38"/>
                          </a:solidFill>
                          <a:latin typeface="Segoe UI"/>
                        </a:rPr>
                        <a:t>00_prereqs · 00_install_all_tables · 90_foreign_keys · 95_views_and_functions</a:t>
                      </a:r>
                    </a:p>
                  </a:txBody>
                  <a:tcPr anchor="ctr" marL="54864" marR="54864" marT="18288" marB="18288">
                    <a:solidFill>
                      <a:srgbClr val="F4F7FA"/>
                    </a:solidFill>
                  </a:tcPr>
                </a:tc>
              </a:tr>
              <a:tr h="705394">
                <a:tc>
                  <a:txBody>
                    <a:bodyPr wrap="square"/>
                    <a:lstStyle/>
                    <a:p>
                      <a:r>
                        <a:rPr sz="1050" b="1" i="0">
                          <a:solidFill>
                            <a:srgbClr val="1B2A38"/>
                          </a:solidFill>
                          <a:latin typeface="Segoe UI"/>
                        </a:rPr>
                        <a:t>0001–0999</a:t>
                      </a:r>
                    </a:p>
                  </a:txBody>
                  <a:tcPr anchor="ctr" marL="54864" marR="54864" marT="18288" marB="18288">
                    <a:solidFill>
                      <a:srgbClr val="FFFFFF"/>
                    </a:solidFill>
                  </a:tcPr>
                </a:tc>
                <a:tc>
                  <a:txBody>
                    <a:bodyPr wrap="square"/>
                    <a:lstStyle/>
                    <a:p>
                      <a:r>
                        <a:rPr sz="1050" b="0" i="0">
                          <a:solidFill>
                            <a:srgbClr val="1B2A38"/>
                          </a:solidFill>
                          <a:latin typeface="Segoe UI"/>
                        </a:rPr>
                        <a:t>9</a:t>
                      </a:r>
                    </a:p>
                  </a:txBody>
                  <a:tcPr anchor="ctr" marL="54864" marR="54864" marT="18288" marB="18288">
                    <a:solidFill>
                      <a:srgbClr val="FFFFFF"/>
                    </a:solidFill>
                  </a:tcPr>
                </a:tc>
                <a:tc>
                  <a:txBody>
                    <a:bodyPr wrap="square"/>
                    <a:lstStyle/>
                    <a:p>
                      <a:r>
                        <a:rPr sz="1050" b="0" i="0">
                          <a:solidFill>
                            <a:srgbClr val="1B2A38"/>
                          </a:solidFill>
                          <a:latin typeface="Segoe UI"/>
                        </a:rPr>
                        <a:t>meta ledger · gmmr partitioning · alert_log + indexes · resultset fns</a:t>
                      </a:r>
                    </a:p>
                  </a:txBody>
                  <a:tcPr anchor="ctr" marL="54864" marR="54864" marT="18288" marB="18288">
                    <a:solidFill>
                      <a:srgbClr val="FFFFFF"/>
                    </a:solidFill>
                  </a:tcPr>
                </a:tc>
                <a:tc>
                  <a:txBody>
                    <a:bodyPr wrap="square"/>
                    <a:lstStyle/>
                    <a:p>
                      <a:r>
                        <a:rPr sz="1050" b="0" i="0">
                          <a:solidFill>
                            <a:srgbClr val="1B2A38"/>
                          </a:solidFill>
                          <a:latin typeface="Segoe UI"/>
                        </a:rPr>
                        <a:t>0001_meta_schema_migrations · 0010_migrate_gmmr_partition · 0100_alerts_log · 0300_fn_get_root_cause_resultset</a:t>
                      </a:r>
                    </a:p>
                  </a:txBody>
                  <a:tcPr anchor="ctr" marL="54864" marR="54864" marT="18288" marB="18288">
                    <a:solidFill>
                      <a:srgbClr val="FFFFFF"/>
                    </a:solidFill>
                  </a:tcPr>
                </a:tc>
              </a:tr>
              <a:tr h="705394">
                <a:tc>
                  <a:txBody>
                    <a:bodyPr wrap="square"/>
                    <a:lstStyle/>
                    <a:p>
                      <a:r>
                        <a:rPr sz="1050" b="1" i="0">
                          <a:solidFill>
                            <a:srgbClr val="1B2A38"/>
                          </a:solidFill>
                          <a:latin typeface="Segoe UI"/>
                        </a:rPr>
                        <a:t>1000–2999</a:t>
                      </a:r>
                    </a:p>
                  </a:txBody>
                  <a:tcPr anchor="ctr" marL="54864" marR="54864" marT="18288" marB="18288">
                    <a:solidFill>
                      <a:srgbClr val="F4F7FA"/>
                    </a:solidFill>
                  </a:tcPr>
                </a:tc>
                <a:tc>
                  <a:txBody>
                    <a:bodyPr wrap="square"/>
                    <a:lstStyle/>
                    <a:p>
                      <a:r>
                        <a:rPr sz="1050" b="0" i="0">
                          <a:solidFill>
                            <a:srgbClr val="1B2A38"/>
                          </a:solidFill>
                          <a:latin typeface="Segoe UI"/>
                        </a:rPr>
                        <a:t>170</a:t>
                      </a:r>
                    </a:p>
                  </a:txBody>
                  <a:tcPr anchor="ctr" marL="54864" marR="54864" marT="18288" marB="18288">
                    <a:solidFill>
                      <a:srgbClr val="F4F7FA"/>
                    </a:solidFill>
                  </a:tcPr>
                </a:tc>
                <a:tc>
                  <a:txBody>
                    <a:bodyPr wrap="square"/>
                    <a:lstStyle/>
                    <a:p>
                      <a:r>
                        <a:rPr sz="1050" b="0" i="0">
                          <a:solidFill>
                            <a:srgbClr val="1B2A38"/>
                          </a:solidFill>
                          <a:latin typeface="Segoe UI"/>
                        </a:rPr>
                        <a:t>rootcause DETECTION VIEW catalog (per-RC, per-vendor views)</a:t>
                      </a:r>
                    </a:p>
                  </a:txBody>
                  <a:tcPr anchor="ctr" marL="54864" marR="54864" marT="18288" marB="18288">
                    <a:solidFill>
                      <a:srgbClr val="F4F7FA"/>
                    </a:solidFill>
                  </a:tcPr>
                </a:tc>
                <a:tc>
                  <a:txBody>
                    <a:bodyPr wrap="square"/>
                    <a:lstStyle/>
                    <a:p>
                      <a:r>
                        <a:rPr sz="1050" b="0" i="0">
                          <a:solidFill>
                            <a:srgbClr val="1B2A38"/>
                          </a:solidFill>
                          <a:latin typeface="Segoe UI"/>
                        </a:rPr>
                        <a:t>create_view_v_sec_sql_&lt;family&gt;_&lt;NNN&gt;_rcNN (acc/au/aud/authz/cfg/enc/qe/tx…)</a:t>
                      </a:r>
                    </a:p>
                  </a:txBody>
                  <a:tcPr anchor="ctr" marL="54864" marR="54864" marT="18288" marB="18288">
                    <a:solidFill>
                      <a:srgbClr val="F4F7FA"/>
                    </a:solidFill>
                  </a:tcPr>
                </a:tc>
              </a:tr>
              <a:tr h="705394">
                <a:tc>
                  <a:txBody>
                    <a:bodyPr wrap="square"/>
                    <a:lstStyle/>
                    <a:p>
                      <a:r>
                        <a:rPr sz="1050" b="1" i="0">
                          <a:solidFill>
                            <a:srgbClr val="1B2A38"/>
                          </a:solidFill>
                          <a:latin typeface="Segoe UI"/>
                        </a:rPr>
                        <a:t>5000–5999</a:t>
                      </a:r>
                    </a:p>
                  </a:txBody>
                  <a:tcPr anchor="ctr" marL="54864" marR="54864" marT="18288" marB="18288">
                    <a:solidFill>
                      <a:srgbClr val="FFFFFF"/>
                    </a:solidFill>
                  </a:tcPr>
                </a:tc>
                <a:tc>
                  <a:txBody>
                    <a:bodyPr wrap="square"/>
                    <a:lstStyle/>
                    <a:p>
                      <a:r>
                        <a:rPr sz="1050" b="0" i="0">
                          <a:solidFill>
                            <a:srgbClr val="1B2A38"/>
                          </a:solidFill>
                          <a:latin typeface="Segoe UI"/>
                        </a:rPr>
                        <a:t>35</a:t>
                      </a:r>
                    </a:p>
                  </a:txBody>
                  <a:tcPr anchor="ctr" marL="54864" marR="54864" marT="18288" marB="18288">
                    <a:solidFill>
                      <a:srgbClr val="FFFFFF"/>
                    </a:solidFill>
                  </a:tcPr>
                </a:tc>
                <a:tc>
                  <a:txBody>
                    <a:bodyPr wrap="square"/>
                    <a:lstStyle/>
                    <a:p>
                      <a:r>
                        <a:rPr sz="1050" b="0" i="0">
                          <a:solidFill>
                            <a:srgbClr val="1B2A38"/>
                          </a:solidFill>
                          <a:latin typeface="Segoe UI"/>
                        </a:rPr>
                        <a:t>custom metrics · server registration · multi-vendor detection fixes</a:t>
                      </a:r>
                    </a:p>
                  </a:txBody>
                  <a:tcPr anchor="ctr" marL="54864" marR="54864" marT="18288" marB="18288">
                    <a:solidFill>
                      <a:srgbClr val="FFFFFF"/>
                    </a:solidFill>
                  </a:tcPr>
                </a:tc>
                <a:tc>
                  <a:txBody>
                    <a:bodyPr wrap="square"/>
                    <a:lstStyle/>
                    <a:p>
                      <a:r>
                        <a:rPr sz="1050" b="0" i="0">
                          <a:solidFill>
                            <a:srgbClr val="1B2A38"/>
                          </a:solidFill>
                          <a:latin typeface="Segoe UI"/>
                        </a:rPr>
                        <a:t>5xxx custom_metrics / server reg / vendor dialect fixes</a:t>
                      </a:r>
                    </a:p>
                  </a:txBody>
                  <a:tcPr anchor="ctr" marL="54864" marR="54864" marT="18288" marB="18288">
                    <a:solidFill>
                      <a:srgbClr val="FFFFFF"/>
                    </a:solidFill>
                  </a:tcPr>
                </a:tc>
              </a:tr>
              <a:tr h="705394">
                <a:tc>
                  <a:txBody>
                    <a:bodyPr wrap="square"/>
                    <a:lstStyle/>
                    <a:p>
                      <a:r>
                        <a:rPr sz="1050" b="1" i="0">
                          <a:solidFill>
                            <a:srgbClr val="1B2A38"/>
                          </a:solidFill>
                          <a:latin typeface="Segoe UI"/>
                        </a:rPr>
                        <a:t>6000–6999</a:t>
                      </a:r>
                    </a:p>
                  </a:txBody>
                  <a:tcPr anchor="ctr" marL="54864" marR="54864" marT="18288" marB="18288">
                    <a:solidFill>
                      <a:srgbClr val="F4F7FA"/>
                    </a:solidFill>
                  </a:tcPr>
                </a:tc>
                <a:tc>
                  <a:txBody>
                    <a:bodyPr wrap="square"/>
                    <a:lstStyle/>
                    <a:p>
                      <a:r>
                        <a:rPr sz="1050" b="0" i="0">
                          <a:solidFill>
                            <a:srgbClr val="1B2A38"/>
                          </a:solidFill>
                          <a:latin typeface="Segoe UI"/>
                        </a:rPr>
                        <a:t>81</a:t>
                      </a:r>
                    </a:p>
                  </a:txBody>
                  <a:tcPr anchor="ctr" marL="54864" marR="54864" marT="18288" marB="18288">
                    <a:solidFill>
                      <a:srgbClr val="F4F7FA"/>
                    </a:solidFill>
                  </a:tcPr>
                </a:tc>
                <a:tc>
                  <a:txBody>
                    <a:bodyPr wrap="square"/>
                    <a:lstStyle/>
                    <a:p>
                      <a:r>
                        <a:rPr sz="1050" b="0" i="0">
                          <a:solidFill>
                            <a:srgbClr val="1B2A38"/>
                          </a:solidFill>
                          <a:latin typeface="Segoe UI"/>
                        </a:rPr>
                        <a:t>RBAC · content/masking hardening · incident lifecycle · exec-plan · audit · health</a:t>
                      </a:r>
                    </a:p>
                  </a:txBody>
                  <a:tcPr anchor="ctr" marL="54864" marR="54864" marT="18288" marB="18288">
                    <a:solidFill>
                      <a:srgbClr val="F4F7FA"/>
                    </a:solidFill>
                  </a:tcPr>
                </a:tc>
                <a:tc>
                  <a:txBody>
                    <a:bodyPr wrap="square"/>
                    <a:lstStyle/>
                    <a:p>
                      <a:r>
                        <a:rPr sz="1050" b="0" i="0">
                          <a:solidFill>
                            <a:srgbClr val="1B2A38"/>
                          </a:solidFill>
                          <a:latin typeface="Segoe UI"/>
                        </a:rPr>
                        <a:t>6550 incident lifecycle · 6690 RBAC hardening · 6280 parse_execution_plan · 63xx AUD rootcauses</a:t>
                      </a:r>
                    </a:p>
                  </a:txBody>
                  <a:tcPr anchor="ctr" marL="54864" marR="54864" marT="18288" marB="18288">
                    <a:solidFill>
                      <a:srgbClr val="F4F7FA"/>
                    </a:solidFill>
                  </a:tcPr>
                </a:tc>
              </a:tr>
              <a:tr h="705396">
                <a:tc>
                  <a:txBody>
                    <a:bodyPr wrap="square"/>
                    <a:lstStyle/>
                    <a:p>
                      <a:r>
                        <a:rPr sz="1050" b="1" i="0">
                          <a:solidFill>
                            <a:srgbClr val="1B2A38"/>
                          </a:solidFill>
                          <a:latin typeface="Segoe UI"/>
                        </a:rPr>
                        <a:t>7000–7399</a:t>
                      </a:r>
                    </a:p>
                  </a:txBody>
                  <a:tcPr anchor="ctr" marL="54864" marR="54864" marT="18288" marB="18288">
                    <a:solidFill>
                      <a:srgbClr val="FFFFFF"/>
                    </a:solidFill>
                  </a:tcPr>
                </a:tc>
                <a:tc>
                  <a:txBody>
                    <a:bodyPr wrap="square"/>
                    <a:lstStyle/>
                    <a:p>
                      <a:r>
                        <a:rPr sz="1050" b="0" i="0">
                          <a:solidFill>
                            <a:srgbClr val="1B2A38"/>
                          </a:solidFill>
                          <a:latin typeface="Segoe UI"/>
                        </a:rPr>
                        <a:t>7</a:t>
                      </a:r>
                    </a:p>
                  </a:txBody>
                  <a:tcPr anchor="ctr" marL="54864" marR="54864" marT="18288" marB="18288">
                    <a:solidFill>
                      <a:srgbClr val="FFFFFF"/>
                    </a:solidFill>
                  </a:tcPr>
                </a:tc>
                <a:tc>
                  <a:txBody>
                    <a:bodyPr wrap="square"/>
                    <a:lstStyle/>
                    <a:p>
                      <a:r>
                        <a:rPr sz="1050" b="0" i="0">
                          <a:solidFill>
                            <a:srgbClr val="1B2A38"/>
                          </a:solidFill>
                          <a:latin typeface="Segoe UI"/>
                        </a:rPr>
                        <a:t>ClickHouse · DAM scorecard · content encryption · partitioning</a:t>
                      </a:r>
                    </a:p>
                  </a:txBody>
                  <a:tcPr anchor="ctr" marL="54864" marR="54864" marT="18288" marB="18288">
                    <a:solidFill>
                      <a:srgbClr val="FFFFFF"/>
                    </a:solidFill>
                  </a:tcPr>
                </a:tc>
                <a:tc>
                  <a:txBody>
                    <a:bodyPr wrap="square"/>
                    <a:lstStyle/>
                    <a:p>
                      <a:r>
                        <a:rPr sz="1050" b="0" i="0">
                          <a:solidFill>
                            <a:srgbClr val="1B2A38"/>
                          </a:solidFill>
                          <a:latin typeface="Segoe UI"/>
                        </a:rPr>
                        <a:t>7280 DAM scorecard · 7300/7310 content encryption · 7340 alert_log partition · 7350 rc02 strip</a:t>
                      </a:r>
                    </a:p>
                  </a:txBody>
                  <a:tcPr anchor="ctr" marL="54864" marR="54864" marT="18288" marB="18288">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RUN-ONCE VS RE-APPLY
</a:t>
            </a:r>
            <a:r>
              <a:rPr sz="2400" b="1" i="0">
                <a:solidFill>
                  <a:srgbClr val="FFFFFF"/>
                </a:solidFill>
                <a:latin typeface="Segoe UI"/>
              </a:rPr>
              <a:t>Idempotency &amp; worked examples</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10</a:t>
            </a:r>
          </a:p>
        </p:txBody>
      </p:sp>
      <p:sp>
        <p:nvSpPr>
          <p:cNvPr id="8" name="TextBox 7"/>
          <p:cNvSpPr txBox="1"/>
          <p:nvPr/>
        </p:nvSpPr>
        <p:spPr>
          <a:xfrm>
            <a:off x="548640" y="1280160"/>
            <a:ext cx="11064240" cy="493776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One-shot migrations (run exactly once)</a:t>
            </a:r>
            <a:r>
              <a:rPr sz="1300" b="0" i="0">
                <a:solidFill>
                  <a:srgbClr val="1B2A38"/>
                </a:solidFill>
                <a:latin typeface="Segoe UI"/>
              </a:rPr>
              <a:t>  structural/data changes whose checksum never changes — e.g. 7340_partition_alert_log (converts alerts.alert_log to a 2-level RANGE→HASH partitioned table). The ledger prevents any re-run.</a:t>
            </a:r>
          </a:p>
          <a:p>
            <a:pPr>
              <a:spcBef>
                <a:spcPts val="600"/>
              </a:spcBef>
            </a:pPr>
            <a:r>
              <a:rPr sz="1200" b="1" i="0">
                <a:solidFill>
                  <a:srgbClr val="1FB6B6"/>
                </a:solidFill>
                <a:latin typeface="Segoe UI"/>
              </a:rPr>
              <a:t>▪  </a:t>
            </a:r>
            <a:r>
              <a:rPr sz="1350" b="1" i="0">
                <a:solidFill>
                  <a:srgbClr val="1B2A38"/>
                </a:solidFill>
                <a:latin typeface="Segoe UI"/>
              </a:rPr>
              <a:t>Re-applied on edit (CREATE OR REPLACE)</a:t>
            </a:r>
            <a:r>
              <a:rPr sz="1300" b="0" i="0">
                <a:solidFill>
                  <a:srgbClr val="1B2A38"/>
                </a:solidFill>
                <a:latin typeface="Segoe UI"/>
              </a:rPr>
              <a:t>  detection views (1000–2999 create_view_v_*) and functions — editing the SQL changes the checksum, so the next update re-applies just those; unchanged ones are skipped.</a:t>
            </a:r>
          </a:p>
          <a:p>
            <a:pPr>
              <a:spcBef>
                <a:spcPts val="600"/>
              </a:spcBef>
            </a:pPr>
            <a:r>
              <a:rPr sz="1200" b="1" i="0">
                <a:solidFill>
                  <a:srgbClr val="1FB6B6"/>
                </a:solidFill>
                <a:latin typeface="Segoe UI"/>
              </a:rPr>
              <a:t>▪  </a:t>
            </a:r>
            <a:r>
              <a:rPr sz="1350" b="1" i="0">
                <a:solidFill>
                  <a:srgbClr val="1B2A38"/>
                </a:solidFill>
                <a:latin typeface="Segoe UI"/>
              </a:rPr>
              <a:t>Encryption migrations</a:t>
            </a:r>
            <a:r>
              <a:rPr sz="1300" b="0" i="0">
                <a:solidFill>
                  <a:srgbClr val="1B2A38"/>
                </a:solidFill>
                <a:latin typeface="Segoe UI"/>
              </a:rPr>
              <a:t>  7300_rootcause_content_encryption / 7310_encrypt_detection_logic encrypt the detection catalog at rest via idempotent enc() — safe to re-run.</a:t>
            </a:r>
          </a:p>
          <a:p>
            <a:pPr>
              <a:spcBef>
                <a:spcPts val="600"/>
              </a:spcBef>
            </a:pPr>
            <a:r>
              <a:rPr sz="1200" b="1" i="0">
                <a:solidFill>
                  <a:srgbClr val="1FB6B6"/>
                </a:solidFill>
                <a:latin typeface="Segoe UI"/>
              </a:rPr>
              <a:t>▪  </a:t>
            </a:r>
            <a:r>
              <a:rPr sz="1350" b="1" i="0">
                <a:solidFill>
                  <a:srgbClr val="1B2A38"/>
                </a:solidFill>
                <a:latin typeface="Segoe UI"/>
              </a:rPr>
              <a:t>Self-healing</a:t>
            </a:r>
            <a:r>
              <a:rPr sz="1300" b="0" i="0">
                <a:solidFill>
                  <a:srgbClr val="1B2A38"/>
                </a:solidFill>
                <a:latin typeface="Segoe UI"/>
              </a:rPr>
              <a:t>  7350_rc02_strip_execution_plan_xml adapts to the current RC02 SQL and wraps it only if not already wrapped — idempotent.</a:t>
            </a:r>
          </a:p>
          <a:p>
            <a:pPr>
              <a:spcBef>
                <a:spcPts val="600"/>
              </a:spcBef>
            </a:pPr>
            <a:r>
              <a:rPr sz="1200" b="1" i="0">
                <a:solidFill>
                  <a:srgbClr val="1FB6B6"/>
                </a:solidFill>
                <a:latin typeface="Segoe UI"/>
              </a:rPr>
              <a:t>▪  </a:t>
            </a:r>
            <a:r>
              <a:rPr sz="1350" b="1" i="0">
                <a:solidFill>
                  <a:srgbClr val="1B2A38"/>
                </a:solidFill>
                <a:latin typeface="Segoe UI"/>
              </a:rPr>
              <a:t>Why it is safe</a:t>
            </a:r>
            <a:r>
              <a:rPr sz="1300" b="0" i="0">
                <a:solidFill>
                  <a:srgbClr val="1B2A38"/>
                </a:solidFill>
                <a:latin typeface="Segoe UI"/>
              </a:rPr>
              <a:t>  advisory-locked single runner + per-script transaction (script + ledger row commit together) + fail-and-continue; a partial/failed upgrade is simply resumed on the next run.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WHERE THE PAYLOAD COMES FROM
</a:t>
            </a:r>
            <a:r>
              <a:rPr sz="2400" b="1" i="0">
                <a:solidFill>
                  <a:srgbClr val="FFFFFF"/>
                </a:solidFill>
                <a:latin typeface="Segoe UI"/>
              </a:rPr>
              <a:t>End-to-end: build → ship → update</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11</a:t>
            </a:r>
          </a:p>
        </p:txBody>
      </p:sp>
      <p:sp>
        <p:nvSpPr>
          <p:cNvPr id="8" name="Rounded Rectangle 7"/>
          <p:cNvSpPr/>
          <p:nvPr/>
        </p:nvSpPr>
        <p:spPr>
          <a:xfrm>
            <a:off x="365760" y="2011680"/>
            <a:ext cx="1874519" cy="1463040"/>
          </a:xfrm>
          <a:prstGeom prst="roundRect">
            <a:avLst/>
          </a:prstGeom>
          <a:solidFill>
            <a:srgbClr val="143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300" b="1" i="0">
                <a:solidFill>
                  <a:srgbClr val="FFFFFF"/>
                </a:solidFill>
                <a:latin typeface="Segoe UI"/>
              </a:rPr>
              <a:t>Build</a:t>
            </a:r>
          </a:p>
          <a:p>
            <a:pPr algn="ctr"/>
            <a:r>
              <a:rPr sz="1050" b="0" i="0">
                <a:solidFill>
                  <a:srgbClr val="FFFFFF"/>
                </a:solidFill>
                <a:latin typeface="Segoe UI"/>
              </a:rPr>
              <a:t>PyInstaller
(venv314) → dist_rd</a:t>
            </a:r>
          </a:p>
        </p:txBody>
      </p:sp>
      <p:sp>
        <p:nvSpPr>
          <p:cNvPr id="9" name="Rounded Rectangle 8"/>
          <p:cNvSpPr/>
          <p:nvPr/>
        </p:nvSpPr>
        <p:spPr>
          <a:xfrm>
            <a:off x="2295144" y="2011680"/>
            <a:ext cx="1874519" cy="1463040"/>
          </a:xfrm>
          <a:prstGeom prst="round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300" b="1" i="0">
                <a:solidFill>
                  <a:srgbClr val="0E2A47"/>
                </a:solidFill>
                <a:latin typeface="Segoe UI"/>
              </a:rPr>
              <a:t>Sign</a:t>
            </a:r>
          </a:p>
          <a:p>
            <a:pPr algn="ctr"/>
            <a:r>
              <a:rPr sz="1050" b="0" i="0">
                <a:solidFill>
                  <a:srgbClr val="0E2A47"/>
                </a:solidFill>
                <a:latin typeface="Segoe UI"/>
              </a:rPr>
              <a:t>sign_dbdome.ps1
SHA-256 + RFC3161</a:t>
            </a:r>
          </a:p>
        </p:txBody>
      </p:sp>
      <p:cxnSp>
        <p:nvCxnSpPr>
          <p:cNvPr id="10" name="Connector 9"/>
          <p:cNvCxnSpPr/>
          <p:nvPr/>
        </p:nvCxnSpPr>
        <p:spPr>
          <a:xfrm>
            <a:off x="2240279" y="2743200"/>
            <a:ext cx="54865" cy="0"/>
          </a:xfrm>
          <a:prstGeom prst="line">
            <a:avLst/>
          </a:prstGeom>
          <a:ln w="2032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24527" y="2011680"/>
            <a:ext cx="1874519" cy="1463040"/>
          </a:xfrm>
          <a:prstGeom prst="round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300" b="1" i="0">
                <a:solidFill>
                  <a:srgbClr val="0E2A47"/>
                </a:solidFill>
                <a:latin typeface="Segoe UI"/>
              </a:rPr>
              <a:t>Stage payload</a:t>
            </a:r>
          </a:p>
          <a:p>
            <a:pPr algn="ctr"/>
            <a:r>
              <a:rPr sz="1050" b="0" i="0">
                <a:solidFill>
                  <a:srgbClr val="0E2A47"/>
                </a:solidFill>
                <a:latin typeface="Segoe UI"/>
              </a:rPr>
              <a:t>deploy_all_three →
dbdome_update\dbdome\bin
+ postgres\install</a:t>
            </a:r>
          </a:p>
        </p:txBody>
      </p:sp>
      <p:cxnSp>
        <p:nvCxnSpPr>
          <p:cNvPr id="12" name="Connector 11"/>
          <p:cNvCxnSpPr/>
          <p:nvPr/>
        </p:nvCxnSpPr>
        <p:spPr>
          <a:xfrm>
            <a:off x="4169663" y="2743200"/>
            <a:ext cx="54864" cy="0"/>
          </a:xfrm>
          <a:prstGeom prst="line">
            <a:avLst/>
          </a:prstGeom>
          <a:ln w="2032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53911" y="2011680"/>
            <a:ext cx="1874519" cy="1463040"/>
          </a:xfrm>
          <a:prstGeom prst="roundRect">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300" b="1" i="0">
                <a:solidFill>
                  <a:srgbClr val="FFFFFF"/>
                </a:solidFill>
                <a:latin typeface="Segoe UI"/>
              </a:rPr>
              <a:t>Package + sign</a:t>
            </a:r>
          </a:p>
          <a:p>
            <a:pPr algn="ctr"/>
            <a:r>
              <a:rPr sz="1050" b="0" i="0">
                <a:solidFill>
                  <a:srgbClr val="FFFFFF"/>
                </a:solidFill>
                <a:latin typeface="Segoe UI"/>
              </a:rPr>
              <a:t>dbdome_update.exe
(update.spec)</a:t>
            </a:r>
          </a:p>
        </p:txBody>
      </p:sp>
      <p:cxnSp>
        <p:nvCxnSpPr>
          <p:cNvPr id="14" name="Connector 13"/>
          <p:cNvCxnSpPr/>
          <p:nvPr/>
        </p:nvCxnSpPr>
        <p:spPr>
          <a:xfrm>
            <a:off x="6099046" y="2743200"/>
            <a:ext cx="54865" cy="0"/>
          </a:xfrm>
          <a:prstGeom prst="line">
            <a:avLst/>
          </a:prstGeom>
          <a:ln w="2032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83295" y="2011680"/>
            <a:ext cx="1874519" cy="1463040"/>
          </a:xfrm>
          <a:prstGeom prst="roundRect">
            <a:avLst/>
          </a:prstGeom>
          <a:solidFill>
            <a:srgbClr val="143B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300" b="1" i="0">
                <a:solidFill>
                  <a:srgbClr val="FFFFFF"/>
                </a:solidFill>
                <a:latin typeface="Segoe UI"/>
              </a:rPr>
              <a:t>Ship on media</a:t>
            </a:r>
          </a:p>
          <a:p>
            <a:pPr algn="ctr"/>
            <a:r>
              <a:rPr sz="1050" b="0" i="0">
                <a:solidFill>
                  <a:srgbClr val="FFFFFF"/>
                </a:solidFill>
                <a:latin typeface="Segoe UI"/>
              </a:rPr>
              <a:t>mounted disk
&lt;drive&gt;:\dbdome</a:t>
            </a:r>
          </a:p>
        </p:txBody>
      </p:sp>
      <p:cxnSp>
        <p:nvCxnSpPr>
          <p:cNvPr id="16" name="Connector 15"/>
          <p:cNvCxnSpPr/>
          <p:nvPr/>
        </p:nvCxnSpPr>
        <p:spPr>
          <a:xfrm>
            <a:off x="8028430" y="2743200"/>
            <a:ext cx="54865" cy="0"/>
          </a:xfrm>
          <a:prstGeom prst="line">
            <a:avLst/>
          </a:prstGeom>
          <a:ln w="2032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12679" y="2011680"/>
            <a:ext cx="1874519" cy="1463040"/>
          </a:xfrm>
          <a:prstGeom prst="round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r>
              <a:rPr sz="1300" b="1" i="0">
                <a:solidFill>
                  <a:srgbClr val="FFFFFF"/>
                </a:solidFill>
                <a:latin typeface="Segoe UI"/>
              </a:rPr>
              <a:t>Update on target</a:t>
            </a:r>
          </a:p>
          <a:p>
            <a:pPr algn="ctr"/>
            <a:r>
              <a:rPr sz="1050" b="0" i="0">
                <a:solidFill>
                  <a:srgbClr val="FFFFFF"/>
                </a:solidFill>
                <a:latin typeface="Segoe UI"/>
              </a:rPr>
              <a:t>auto-detect → swap →
migrate → validate</a:t>
            </a:r>
          </a:p>
        </p:txBody>
      </p:sp>
      <p:cxnSp>
        <p:nvCxnSpPr>
          <p:cNvPr id="18" name="Connector 17"/>
          <p:cNvCxnSpPr/>
          <p:nvPr/>
        </p:nvCxnSpPr>
        <p:spPr>
          <a:xfrm>
            <a:off x="9957814" y="2743200"/>
            <a:ext cx="54865" cy="0"/>
          </a:xfrm>
          <a:prstGeom prst="line">
            <a:avLst/>
          </a:prstGeom>
          <a:ln w="20320">
            <a:solidFill>
              <a:srgbClr val="53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3931920"/>
            <a:ext cx="11064240" cy="219456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Binaries flow one way</a:t>
            </a:r>
            <a:r>
              <a:rPr sz="1300" b="0" i="0">
                <a:solidFill>
                  <a:srgbClr val="1B2A38"/>
                </a:solidFill>
                <a:latin typeface="Segoe UI"/>
              </a:rPr>
              <a:t>  build → sign → stage into the update payload → package → media → target. Customers only ever receive signed artifacts.</a:t>
            </a:r>
          </a:p>
          <a:p>
            <a:pPr>
              <a:spcBef>
                <a:spcPts val="600"/>
              </a:spcBef>
            </a:pPr>
            <a:r>
              <a:rPr sz="1200" b="1" i="0">
                <a:solidFill>
                  <a:srgbClr val="1FB6B6"/>
                </a:solidFill>
                <a:latin typeface="Segoe UI"/>
              </a:rPr>
              <a:t>▪  </a:t>
            </a:r>
            <a:r>
              <a:rPr sz="1350" b="1" i="0">
                <a:solidFill>
                  <a:srgbClr val="1B2A38"/>
                </a:solidFill>
                <a:latin typeface="Segoe UI"/>
              </a:rPr>
              <a:t>Schema travels as files</a:t>
            </a:r>
            <a:r>
              <a:rPr sz="1300" b="0" i="0">
                <a:solidFill>
                  <a:srgbClr val="1B2A38"/>
                </a:solidFill>
                <a:latin typeface="Segoe UI"/>
              </a:rPr>
              <a:t>  new/changed NNNN_*.sql are dropped into postgres\install and shipped; the runscript + ledger reconcile them on the target. No rebuild needed to ship a detection/view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32688"/>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54864"/>
          </a:xfrm>
          <a:prstGeom prst="rect">
            <a:avLst/>
          </a:prstGeom>
          <a:solidFill>
            <a:srgbClr val="1FB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1155680" cy="731520"/>
          </a:xfrm>
          <a:prstGeom prst="rect">
            <a:avLst/>
          </a:prstGeom>
          <a:noFill/>
        </p:spPr>
        <p:txBody>
          <a:bodyPr wrap="square" anchor="ctr" lIns="27432" rIns="27432" tIns="27432" bIns="27432">
            <a:spAutoFit/>
          </a:bodyPr>
          <a:lstStyle/>
          <a:p>
            <a:r>
              <a:rPr sz="1100" b="1" i="0">
                <a:solidFill>
                  <a:srgbClr val="1FB6B6"/>
                </a:solidFill>
                <a:latin typeface="Segoe UI"/>
              </a:rPr>
              <a:t>REFERENCE
</a:t>
            </a:r>
            <a:r>
              <a:rPr sz="2400" b="1" i="0">
                <a:solidFill>
                  <a:srgbClr val="FFFFFF"/>
                </a:solidFill>
                <a:latin typeface="Segoe UI"/>
              </a:rPr>
              <a:t>Operational safety, rollback &amp; key files</a:t>
            </a:r>
          </a:p>
        </p:txBody>
      </p:sp>
      <p:sp>
        <p:nvSpPr>
          <p:cNvPr id="6" name="TextBox 5"/>
          <p:cNvSpPr txBox="1"/>
          <p:nvPr/>
        </p:nvSpPr>
        <p:spPr>
          <a:xfrm>
            <a:off x="502920" y="6455664"/>
            <a:ext cx="8686800" cy="320040"/>
          </a:xfrm>
          <a:prstGeom prst="rect">
            <a:avLst/>
          </a:prstGeom>
          <a:noFill/>
        </p:spPr>
        <p:txBody>
          <a:bodyPr wrap="square" anchor="t" lIns="27432" rIns="27432" tIns="27432" bIns="27432">
            <a:spAutoFit/>
          </a:bodyPr>
          <a:lstStyle/>
          <a:p>
            <a:r>
              <a:rPr sz="850" b="0" i="0">
                <a:solidFill>
                  <a:srgbClr val="536474"/>
                </a:solidFill>
                <a:latin typeface="Segoe UI"/>
              </a:rPr>
              <a:t>DBDOME Update  ·  Deploy · Runscript · Signing · DB Upgrade</a:t>
            </a:r>
          </a:p>
        </p:txBody>
      </p:sp>
      <p:sp>
        <p:nvSpPr>
          <p:cNvPr id="7" name="TextBox 6"/>
          <p:cNvSpPr txBox="1"/>
          <p:nvPr/>
        </p:nvSpPr>
        <p:spPr>
          <a:xfrm>
            <a:off x="11155680" y="6455664"/>
            <a:ext cx="822960" cy="320040"/>
          </a:xfrm>
          <a:prstGeom prst="rect">
            <a:avLst/>
          </a:prstGeom>
          <a:noFill/>
        </p:spPr>
        <p:txBody>
          <a:bodyPr wrap="square" anchor="t" lIns="27432" rIns="27432" tIns="27432" bIns="27432">
            <a:spAutoFit/>
          </a:bodyPr>
          <a:lstStyle/>
          <a:p>
            <a:pPr algn="r"/>
            <a:r>
              <a:rPr sz="850" b="0" i="0">
                <a:solidFill>
                  <a:srgbClr val="536474"/>
                </a:solidFill>
                <a:latin typeface="Segoe UI"/>
              </a:rPr>
              <a:t>12</a:t>
            </a:r>
          </a:p>
        </p:txBody>
      </p:sp>
      <p:sp>
        <p:nvSpPr>
          <p:cNvPr id="8" name="TextBox 7"/>
          <p:cNvSpPr txBox="1"/>
          <p:nvPr/>
        </p:nvSpPr>
        <p:spPr>
          <a:xfrm>
            <a:off x="548640" y="1280160"/>
            <a:ext cx="11064240" cy="4937760"/>
          </a:xfrm>
          <a:prstGeom prst="rect">
            <a:avLst/>
          </a:prstGeom>
          <a:noFill/>
        </p:spPr>
        <p:txBody>
          <a:bodyPr wrap="square" anchor="t" lIns="27432" rIns="27432" tIns="27432" bIns="27432">
            <a:spAutoFit/>
          </a:bodyPr>
          <a:lstStyle/>
          <a:p>
            <a:pPr>
              <a:spcBef>
                <a:spcPts val="600"/>
              </a:spcBef>
            </a:pPr>
            <a:r>
              <a:rPr sz="1200" b="1" i="0">
                <a:solidFill>
                  <a:srgbClr val="1FB6B6"/>
                </a:solidFill>
                <a:latin typeface="Segoe UI"/>
              </a:rPr>
              <a:t>▪  </a:t>
            </a:r>
            <a:r>
              <a:rPr sz="1350" b="1" i="0">
                <a:solidFill>
                  <a:srgbClr val="1B2A38"/>
                </a:solidFill>
                <a:latin typeface="Segoe UI"/>
              </a:rPr>
              <a:t>Update safety</a:t>
            </a:r>
            <a:r>
              <a:rPr sz="1300" b="0" i="0">
                <a:solidFill>
                  <a:srgbClr val="1B2A38"/>
                </a:solidFill>
                <a:latin typeface="Segoe UI"/>
              </a:rPr>
              <a:t>  preflight (dbdome + PostgreSQL present, admin); service reinstall auto-detects split/combined; grafana.db swap bracketed by stop/start; bin\.env preserved; FAILED_SCRIPTS summary at the end.</a:t>
            </a:r>
          </a:p>
          <a:p>
            <a:pPr>
              <a:spcBef>
                <a:spcPts val="600"/>
              </a:spcBef>
            </a:pPr>
            <a:r>
              <a:rPr sz="1200" b="1" i="0">
                <a:solidFill>
                  <a:srgbClr val="1FB6B6"/>
                </a:solidFill>
                <a:latin typeface="Segoe UI"/>
              </a:rPr>
              <a:t>▪  </a:t>
            </a:r>
            <a:r>
              <a:rPr sz="1350" b="1" i="0">
                <a:solidFill>
                  <a:srgbClr val="1B2A38"/>
                </a:solidFill>
                <a:latin typeface="Segoe UI"/>
              </a:rPr>
              <a:t>DB-upgrade safety</a:t>
            </a:r>
            <a:r>
              <a:rPr sz="1300" b="0" i="0">
                <a:solidFill>
                  <a:srgbClr val="1B2A38"/>
                </a:solidFill>
                <a:latin typeface="Segoe UI"/>
              </a:rPr>
              <a:t>  base_install guarded to fresh DB; ledger delta (apply only new/changed); advisory-locked; per-script atomic transaction; fail-and-continue then resume on re-run.</a:t>
            </a:r>
          </a:p>
          <a:p>
            <a:pPr>
              <a:spcBef>
                <a:spcPts val="600"/>
              </a:spcBef>
            </a:pPr>
            <a:r>
              <a:rPr sz="1200" b="1" i="0">
                <a:solidFill>
                  <a:srgbClr val="1FB6B6"/>
                </a:solidFill>
                <a:latin typeface="Segoe UI"/>
              </a:rPr>
              <a:t>▪  </a:t>
            </a:r>
            <a:r>
              <a:rPr sz="1350" b="1" i="0">
                <a:solidFill>
                  <a:srgbClr val="1B2A38"/>
                </a:solidFill>
                <a:latin typeface="Segoe UI"/>
              </a:rPr>
              <a:t>Signing safety</a:t>
            </a:r>
            <a:r>
              <a:rPr sz="1300" b="0" i="0">
                <a:solidFill>
                  <a:srgbClr val="1B2A38"/>
                </a:solidFill>
                <a:latin typeface="Segoe UI"/>
              </a:rPr>
              <a:t>  RFC3161 timestamp (survives cert expiry); third-party binaries never re-signed; .cer trust import scoped to the machine store.</a:t>
            </a:r>
          </a:p>
          <a:p>
            <a:pPr>
              <a:spcBef>
                <a:spcPts val="600"/>
              </a:spcBef>
            </a:pPr>
            <a:r>
              <a:rPr sz="1200" b="1" i="0">
                <a:solidFill>
                  <a:srgbClr val="1FB6B6"/>
                </a:solidFill>
                <a:latin typeface="Segoe UI"/>
              </a:rPr>
              <a:t>▪  </a:t>
            </a:r>
            <a:r>
              <a:rPr sz="1350" b="1" i="0">
                <a:solidFill>
                  <a:srgbClr val="1B2A38"/>
                </a:solidFill>
                <a:latin typeface="Segoe UI"/>
              </a:rPr>
              <a:t>Key files</a:t>
            </a:r>
            <a:r>
              <a:rPr sz="1300" b="0" i="0">
                <a:solidFill>
                  <a:srgbClr val="1B2A38"/>
                </a:solidFill>
                <a:latin typeface="Segoe UI"/>
              </a:rPr>
              <a:t>  dbdome_update/update.py (9-step updater) · update.spec · processes/sql_script_runner.py · payload postgres\install\ (base_install + 302 migrations) · certification/{sign_dbdome.ps1, dbdome_cert.*} · deploy_all_three.ps1 (staging).</a:t>
            </a:r>
          </a:p>
          <a:p>
            <a:pPr>
              <a:spcBef>
                <a:spcPts val="600"/>
              </a:spcBef>
            </a:pPr>
            <a:r>
              <a:rPr sz="1200" b="1" i="0">
                <a:solidFill>
                  <a:srgbClr val="1FB6B6"/>
                </a:solidFill>
                <a:latin typeface="Segoe UI"/>
              </a:rPr>
              <a:t>▪  </a:t>
            </a:r>
            <a:r>
              <a:rPr sz="1350" b="1" i="0">
                <a:solidFill>
                  <a:srgbClr val="1B2A38"/>
                </a:solidFill>
                <a:latin typeface="Segoe UI"/>
              </a:rPr>
              <a:t>Secrets</a:t>
            </a:r>
            <a:r>
              <a:rPr sz="1300" b="0" i="0">
                <a:solidFill>
                  <a:srgbClr val="1B2A38"/>
                </a:solidFill>
                <a:latin typeface="Segoe UI"/>
              </a:rPr>
              <a:t>  DB &amp; PFX passwords live only in the operator scripts / host .env — never in the shipped catalog or this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